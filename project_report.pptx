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6325c14762345fc" /><Relationship Type="http://schemas.openxmlformats.org/package/2006/relationships/metadata/core-properties" Target="/docProps/core.xml" Id="R0b2435c3125946e4" /><Relationship Type="http://schemas.openxmlformats.org/officeDocument/2006/relationships/extended-properties" Target="/docProps/app.xml" Id="R75fe82664ee14975" /><Relationship Type="http://schemas.openxmlformats.org/officeDocument/2006/relationships/custom-properties" Target="/docProps/custom.xml" Id="R6be601be454d475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c2221445f17a4cae"/>
  </p:notesMasterIdLst>
  <p:sldIdLst>
    <p:sldId id="256" r:id="R230b12eb9ec8456d"/>
    <p:sldId id="257" r:id="Rad25e38cab9441d0"/>
    <p:sldId id="258" r:id="Ra5a72589bc9d4b21"/>
    <p:sldId id="259" r:id="R5a09fbf50f5244dd"/>
    <p:sldId id="260" r:id="Rbd90ae3beba74d7c"/>
    <p:sldId id="261" r:id="R41392d651696491e"/>
    <p:sldId id="262" r:id="Rf00405232a4d45aa"/>
    <p:sldId id="263" r:id="R702d40fa21724214"/>
    <p:sldId id="264" r:id="R38b8d190068b4b2f"/>
    <p:sldId id="265" r:id="Ra4b480f713fa4af3"/>
    <p:sldId id="266" r:id="Rcf9ad270b9a64abe"/>
    <p:sldId id="267" r:id="Rd43ce6a184b54c9f"/>
    <p:sldId id="268" r:id="R442acf101dd24dc7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30b12eb9ec8456d" /><Relationship Type="http://schemas.openxmlformats.org/officeDocument/2006/relationships/notesMaster" Target="/ppt/notesMasters/notesMaster1.xml" Id="Rc2221445f17a4cae" /><Relationship Type="http://schemas.openxmlformats.org/officeDocument/2006/relationships/slide" Target="/ppt/slides/slide2.xml" Id="Rad25e38cab9441d0" /><Relationship Type="http://schemas.openxmlformats.org/officeDocument/2006/relationships/slide" Target="/ppt/slides/slide3.xml" Id="Ra5a72589bc9d4b21" /><Relationship Type="http://schemas.openxmlformats.org/officeDocument/2006/relationships/slide" Target="/ppt/slides/slide4.xml" Id="R5a09fbf50f5244dd" /><Relationship Type="http://schemas.openxmlformats.org/officeDocument/2006/relationships/slide" Target="/ppt/slides/slide5.xml" Id="Rbd90ae3beba74d7c" /><Relationship Type="http://schemas.openxmlformats.org/officeDocument/2006/relationships/slide" Target="/ppt/slides/slide6.xml" Id="R41392d651696491e" /><Relationship Type="http://schemas.openxmlformats.org/officeDocument/2006/relationships/slide" Target="/ppt/slides/slide7.xml" Id="Rf00405232a4d45aa" /><Relationship Type="http://schemas.openxmlformats.org/officeDocument/2006/relationships/slide" Target="/ppt/slides/slide8.xml" Id="R702d40fa21724214" /><Relationship Type="http://schemas.openxmlformats.org/officeDocument/2006/relationships/slide" Target="/ppt/slides/slide9.xml" Id="R38b8d190068b4b2f" /><Relationship Type="http://schemas.openxmlformats.org/officeDocument/2006/relationships/slide" Target="/ppt/slides/slide10.xml" Id="Ra4b480f713fa4af3" /><Relationship Type="http://schemas.openxmlformats.org/officeDocument/2006/relationships/slide" Target="/ppt/slides/slide11.xml" Id="Rcf9ad270b9a64abe" /><Relationship Type="http://schemas.openxmlformats.org/officeDocument/2006/relationships/slide" Target="/ppt/slides/slide12.xml" Id="Rd43ce6a184b54c9f" /><Relationship Type="http://schemas.openxmlformats.org/officeDocument/2006/relationships/slide" Target="/ppt/slides/slide13.xml" Id="R442acf101dd24d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e3150cd8da049f5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5b1083825ce4757" /><Relationship Type="http://schemas.openxmlformats.org/officeDocument/2006/relationships/slide" Target="/ppt/slides/slide1.xml" Id="Rfcd3f78c6a054d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f2669b002634d14" /><Relationship Type="http://schemas.openxmlformats.org/officeDocument/2006/relationships/slide" Target="/ppt/slides/slide2.xml" Id="R38b8ad3e472742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d8764fcf25d4b1d" /><Relationship Type="http://schemas.openxmlformats.org/officeDocument/2006/relationships/slide" Target="/ppt/slides/slide3.xml" Id="Rafb882b63b9743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61dad7cec0848fe" /><Relationship Type="http://schemas.openxmlformats.org/officeDocument/2006/relationships/slide" Target="/ppt/slides/slide4.xml" Id="R524750af12cd4f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f767d0bbfa34b88" /><Relationship Type="http://schemas.openxmlformats.org/officeDocument/2006/relationships/slide" Target="/ppt/slides/slide5.xml" Id="Rbceaaccd9ce94e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0477157f7f04c9d" /><Relationship Type="http://schemas.openxmlformats.org/officeDocument/2006/relationships/slide" Target="/ppt/slides/slide6.xml" Id="R5b1156cae5a349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94d700ae04c495a" /><Relationship Type="http://schemas.openxmlformats.org/officeDocument/2006/relationships/slide" Target="/ppt/slides/slide7.xml" Id="R4d767ffac20049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98e58885a974428" /><Relationship Type="http://schemas.openxmlformats.org/officeDocument/2006/relationships/slide" Target="/ppt/slides/slide8.xml" Id="R8a6d9e7126b543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2b9eb4ec23a421b" /><Relationship Type="http://schemas.openxmlformats.org/officeDocument/2006/relationships/slide" Target="/ppt/slides/slide9.xml" Id="Rf0400d29dc4f49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8a0722bc5684549" /><Relationship Type="http://schemas.openxmlformats.org/officeDocument/2006/relationships/slide" Target="/ppt/slides/slide10.xml" Id="Rf534cc8f522c48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6b02be118c947de" /><Relationship Type="http://schemas.openxmlformats.org/officeDocument/2006/relationships/slide" Target="/ppt/slides/slide11.xml" Id="Rc20aca58c4ab40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95fd3f26c934909" /><Relationship Type="http://schemas.openxmlformats.org/officeDocument/2006/relationships/slide" Target="/ppt/slides/slide12.xml" Id="R3919967c828b40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437da7bdaf346d1" /><Relationship Type="http://schemas.openxmlformats.org/officeDocument/2006/relationships/slide" Target="/ppt/slides/slide13.xml" Id="R2502c660078746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Project: Online Food Delivery Data Analytics. Dataset has 388 records and 13 features.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Table of contents covering all 10 sections of the project report.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Project overview slide. Explains the 6-step analytics pipeline scope and objective.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Dataset description slide. 388 records, 13 raw features, 3 derived features: Income_Numeric, Gender_Code, Sales_Score.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Data collection slide. 5-step pipeline: Read CSV → Inspect → Encode → Filter → Analyse. Key libraries: pandas, numpy, matplotlib, seaborn, streamlit.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Data quality slide. Dataset is clean: 0 nulls, 0 duplicates. Key stats: avg age 24.6, avg family size 3.4. Female 57%, Students 71%, Positive feedback 85%.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Sales metric slide. Formula: Sales Score = Gender_Code x Age. Male=1, Female=0. Total score 4213, average 10.86. Older male customers drive the highest per-customer score.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Group summary slide. Students and no-income customers are most active online. Overall 96% online ordering rate and 85% positive feedback.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Visualisation slide. 9 charts: Gender pie, Age histogram, Occupation horizontal bar, Feedback grouped bar, Sales by age group, Customer type pie, Income vs ordering bar, Family size line chart, Correlation heatmap. Plus education bar.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Business decisions slide. 8 data-driven recommendations.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Technology stack slide. Python 3.10, Pandas, NumPy, Matplotlib, Seaborn, Streamlit. Architecture: CSV -&gt; load -&gt; clean -&gt; filter -&gt; 6 tabs. Run with: streamlit run app.py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Conclusion slide. 5 key conclusions. 6 next steps: ML prediction, NLP sentiment, geospatial analysis, time-series, A/B testing, and cloud deployment.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End slide.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9f5a386ad14d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217167c21e48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900b67ccb443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94d295d664f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3e6c436237401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42000f629be4b1f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faa1123834728" /><Relationship Type="http://schemas.openxmlformats.org/officeDocument/2006/relationships/notesSlide" Target="/ppt/notesSlides/notesSlide1.xml" Id="R87dded2d140041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093d0ca014090" /><Relationship Type="http://schemas.openxmlformats.org/officeDocument/2006/relationships/notesSlide" Target="/ppt/notesSlides/notesSlide2.xml" Id="Rbdd98bb19fe147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480f0e2d44775" /><Relationship Type="http://schemas.openxmlformats.org/officeDocument/2006/relationships/notesSlide" Target="/ppt/notesSlides/notesSlide3.xml" Id="R7aca01e67fe044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9ea98ab424d56" /><Relationship Type="http://schemas.openxmlformats.org/officeDocument/2006/relationships/notesSlide" Target="/ppt/notesSlides/notesSlide4.xml" Id="Ra35feb23ff0445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74b90816842de" /><Relationship Type="http://schemas.openxmlformats.org/officeDocument/2006/relationships/notesSlide" Target="/ppt/notesSlides/notesSlide5.xml" Id="R05d65949638a4c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b8be346c44e4b" /><Relationship Type="http://schemas.openxmlformats.org/officeDocument/2006/relationships/notesSlide" Target="/ppt/notesSlides/notesSlide6.xml" Id="R20aaf093594142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76b49d6654af1" /><Relationship Type="http://schemas.openxmlformats.org/officeDocument/2006/relationships/notesSlide" Target="/ppt/notesSlides/notesSlide7.xml" Id="R35dc80c0454243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5ed326d8743f6" /><Relationship Type="http://schemas.openxmlformats.org/officeDocument/2006/relationships/notesSlide" Target="/ppt/notesSlides/notesSlide8.xml" Id="R9a0f3711758544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9d90769304da8" /><Relationship Type="http://schemas.openxmlformats.org/officeDocument/2006/relationships/notesSlide" Target="/ppt/notesSlides/notesSlide9.xml" Id="R21a8113e963845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c7cd18a254bfe" /><Relationship Type="http://schemas.openxmlformats.org/officeDocument/2006/relationships/notesSlide" Target="/ppt/notesSlides/notesSlide10.xml" Id="R4822e795cd5542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1af4cada74f0c" /><Relationship Type="http://schemas.openxmlformats.org/officeDocument/2006/relationships/notesSlide" Target="/ppt/notesSlides/notesSlide11.xml" Id="R14bc3dd7489d42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686d761694578" /><Relationship Type="http://schemas.openxmlformats.org/officeDocument/2006/relationships/notesSlide" Target="/ppt/notesSlides/notesSlide12.xml" Id="R39f3f32a3c80452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27899d5864dc5" /><Relationship Type="http://schemas.openxmlformats.org/officeDocument/2006/relationships/notesSlide" Target="/ppt/notesSlides/notesSlide13.xml" Id="R602703a4629a48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000" name="TopBa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F97316"/>
              </a:solidFill>
            </a:endParaRPr>
          </a:p>
        </p:txBody>
      </p:sp>
      <p:sp>
        <p:nvSpPr>
          <p:cNvPr id="100001" name="Title"/>
          <p:cNvSpPr txBox="1"/>
          <p:nvPr/>
        </p:nvSpPr>
        <p:spPr>
          <a:xfrm xmlns:a="http://schemas.openxmlformats.org/drawingml/2006/main">
            <a:off x="540000" y="720000"/>
            <a:ext cx="108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</a:rPr>
              <a:t>Online Food Delivery</a:t>
            </a:r>
          </a:p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</a:rPr>
              <a:t>Data Analytics Project</a:t>
            </a:r>
          </a:p>
        </p:txBody>
      </p:sp>
      <p:sp>
        <p:nvSpPr>
          <p:cNvPr id="100002" name="Subtitle"/>
          <p:cNvSpPr txBox="1"/>
          <p:nvPr/>
        </p:nvSpPr>
        <p:spPr>
          <a:xfrm xmlns:a="http://schemas.openxmlformats.org/drawingml/2006/main">
            <a:off x="720000" y="270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BDD7EE"/>
                </a:solidFill>
              </a:rPr>
              <a:t>End-to-End Analysis: Data Collection → Quality Check → Sales Metrics → Visualisation → Business Decisions</a:t>
            </a:r>
          </a:p>
        </p:txBody>
      </p:sp>
      <p:sp>
        <p:nvSpPr>
          <p:cNvPr id="100003" name="Tool"/>
          <p:cNvSpPr txBox="1"/>
          <p:nvPr/>
        </p:nvSpPr>
        <p:spPr>
          <a:xfrm xmlns:a="http://schemas.openxmlformats.org/drawingml/2006/main">
            <a:off x="720000" y="3780000"/>
            <a:ext cx="104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93C5FD"/>
                </a:solidFill>
              </a:rPr>
              <a:t>Built with Python · Streamlit · Pandas · Matplotlib · Seaborn</a:t>
            </a:r>
          </a:p>
        </p:txBody>
      </p:sp>
      <p:sp>
        <p:nvSpPr>
          <p:cNvPr id="100004" name="Dataset"/>
          <p:cNvSpPr txBox="1"/>
          <p:nvPr/>
        </p:nvSpPr>
        <p:spPr>
          <a:xfrm xmlns:a="http://schemas.openxmlformats.org/drawingml/2006/main">
            <a:off x="720000" y="4320000"/>
            <a:ext cx="104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94A3B8"/>
                </a:solidFill>
              </a:rPr>
              <a:t>Dataset: online food delivery dataset.csv  |  Records: 388  |  Features: 13</a:t>
            </a:r>
          </a:p>
        </p:txBody>
      </p:sp>
      <p:sp>
        <p:nvSpPr>
          <p:cNvPr id="100005" name="BottomBar"/>
          <p:cNvSpPr txBox="1"/>
          <p:nvPr/>
        </p:nvSpPr>
        <p:spPr>
          <a:xfrm xmlns:a="http://schemas.openxmlformats.org/drawingml/2006/main">
            <a:off x="0" y="6768000"/>
            <a:ext cx="12193200" cy="1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F97316"/>
              </a:solidFill>
            </a:endParaRP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06" name="HeaderBar"/>
          <p:cNvSpPr txBox="1"/>
          <p:nvPr/>
        </p:nvSpPr>
        <p:spPr>
          <a:xfrm xmlns:a="http://schemas.openxmlformats.org/drawingml/2006/main">
            <a:off x="0" y="0"/>
            <a:ext cx="121932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E3A5F"/>
              </a:solidFill>
            </a:endParaRPr>
          </a:p>
        </p:txBody>
      </p:sp>
      <p:sp>
        <p:nvSpPr>
          <p:cNvPr id="100007" name="SlideTitle"/>
          <p:cNvSpPr txBox="1"/>
          <p:nvPr/>
        </p:nvSpPr>
        <p:spPr>
          <a:xfrm xmlns:a="http://schemas.openxmlformats.org/drawingml/2006/main">
            <a:off x="360000" y="72000"/>
            <a:ext cx="90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100008" name="Slide#"/>
          <p:cNvSpPr txBox="1"/>
          <p:nvPr/>
        </p:nvSpPr>
        <p:spPr>
          <a:xfrm xmlns:a="http://schemas.openxmlformats.org/drawingml/2006/main">
            <a:off x="10800000" y="108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F97316"/>
                </a:solidFill>
              </a:rPr>
              <a:t>02</a:t>
            </a:r>
          </a:p>
        </p:txBody>
      </p:sp>
      <p:sp>
        <p:nvSpPr>
          <p:cNvPr id="100009" name="Col1"/>
          <p:cNvSpPr txBox="1"/>
          <p:nvPr/>
        </p:nvSpPr>
        <p:spPr>
          <a:xfrm xmlns:a="http://schemas.openxmlformats.org/drawingml/2006/main">
            <a:off x="540000" y="792000"/>
            <a:ext cx="5040000" cy="50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>01  Project Overview</a:t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>02  Dataset Description</a:t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>03  Data Collection &amp; Loading</a:t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>04  Data Quality Check</a:t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>05  Sales Metric Calculation</a:t>
            </a:r>
          </a:p>
        </p:txBody>
      </p:sp>
      <p:sp>
        <p:nvSpPr>
          <p:cNvPr id="100010" name="Col2"/>
          <p:cNvSpPr txBox="1"/>
          <p:nvPr/>
        </p:nvSpPr>
        <p:spPr>
          <a:xfrm xmlns:a="http://schemas.openxmlformats.org/drawingml/2006/main">
            <a:off x="6120000" y="792000"/>
            <a:ext cx="5400000" cy="50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>06  Group &amp; Summary Statistics</a:t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>07  Data Visualisation (Charts)</a:t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>08  Business Decisions</a:t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>09  Technology Stack</a:t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E3A5F"/>
                </a:solidFill>
              </a:rPr>
              <a:t>10  Conclusion &amp; Next Steps</a:t>
            </a:r>
          </a:p>
        </p:txBody>
      </p:sp>
      <p:sp>
        <p:nvSpPr>
          <p:cNvPr id="100011" name="Divider"/>
          <p:cNvSpPr txBox="1"/>
          <p:nvPr/>
        </p:nvSpPr>
        <p:spPr>
          <a:xfrm xmlns:a="http://schemas.openxmlformats.org/drawingml/2006/main">
            <a:off x="5760000" y="900000"/>
            <a:ext cx="18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5E7EB"/>
              </a:solidFill>
            </a:endParaRPr>
          </a:p>
        </p:txBody>
      </p:sp>
      <p:sp>
        <p:nvSpPr>
          <p:cNvPr id="100012" name="Foote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 b="0">
                <a:solidFill>
                  <a:srgbClr val="94A3B8"/>
                </a:solidFill>
              </a:rPr>
              <a:t>Online Food Delivery — Data Analytics Project Report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13" name="HeaderBar"/>
          <p:cNvSpPr txBox="1"/>
          <p:nvPr/>
        </p:nvSpPr>
        <p:spPr>
          <a:xfrm xmlns:a="http://schemas.openxmlformats.org/drawingml/2006/main">
            <a:off x="0" y="0"/>
            <a:ext cx="121932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E3A5F"/>
              </a:solidFill>
            </a:endParaRPr>
          </a:p>
        </p:txBody>
      </p:sp>
      <p:sp>
        <p:nvSpPr>
          <p:cNvPr id="100014" name="SlideTitle"/>
          <p:cNvSpPr txBox="1"/>
          <p:nvPr/>
        </p:nvSpPr>
        <p:spPr>
          <a:xfrm xmlns:a="http://schemas.openxmlformats.org/drawingml/2006/main">
            <a:off x="360000" y="72000"/>
            <a:ext cx="90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01  Project Overview</a:t>
            </a:r>
          </a:p>
        </p:txBody>
      </p:sp>
      <p:sp>
        <p:nvSpPr>
          <p:cNvPr id="100015" name="Slide#"/>
          <p:cNvSpPr txBox="1"/>
          <p:nvPr/>
        </p:nvSpPr>
        <p:spPr>
          <a:xfrm xmlns:a="http://schemas.openxmlformats.org/drawingml/2006/main">
            <a:off x="10800000" y="108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F97316"/>
                </a:solidFill>
              </a:rPr>
              <a:t>03</a:t>
            </a:r>
          </a:p>
        </p:txBody>
      </p:sp>
      <p:sp>
        <p:nvSpPr>
          <p:cNvPr id="100016" name="ObjTitle"/>
          <p:cNvSpPr txBox="1"/>
          <p:nvPr/>
        </p:nvSpPr>
        <p:spPr>
          <a:xfrm xmlns:a="http://schemas.openxmlformats.org/drawingml/2006/main">
            <a:off x="540000" y="720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E3A5F"/>
                </a:solidFill>
              </a:rPr>
              <a:t>Project Objective</a:t>
            </a:r>
          </a:p>
        </p:txBody>
      </p:sp>
      <p:sp>
        <p:nvSpPr>
          <p:cNvPr id="100017" name="ObjText"/>
          <p:cNvSpPr txBox="1"/>
          <p:nvPr/>
        </p:nvSpPr>
        <p:spPr>
          <a:xfrm xmlns:a="http://schemas.openxmlformats.org/drawingml/2006/main">
            <a:off x="540000" y="1044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374151"/>
                </a:solidFill>
              </a:rPr>
              <a:t>To perform a complete data analytics pipeline on an online food delivery dataset — from raw data ingestion through quality validation, metric computation, visual exploration, and actionable business insight generation — delivered as an interactive Streamlit web application.</a:t>
            </a:r>
          </a:p>
        </p:txBody>
      </p:sp>
      <p:sp>
        <p:nvSpPr>
          <p:cNvPr id="100018" name="ScopeTitle"/>
          <p:cNvSpPr txBox="1"/>
          <p:nvPr/>
        </p:nvSpPr>
        <p:spPr>
          <a:xfrm xmlns:a="http://schemas.openxmlformats.org/drawingml/2006/main">
            <a:off x="540000" y="1872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E3A5F"/>
                </a:solidFill>
              </a:rPr>
              <a:t>Scope of Work</a:t>
            </a:r>
          </a:p>
        </p:txBody>
      </p:sp>
      <p:sp>
        <p:nvSpPr>
          <p:cNvPr id="100019" name="ScopeBox1"/>
          <p:cNvSpPr txBox="1"/>
          <p:nvPr/>
        </p:nvSpPr>
        <p:spPr>
          <a:xfrm xmlns:a="http://schemas.openxmlformats.org/drawingml/2006/main">
            <a:off x="540000" y="2268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3A5F"/>
                </a:solidFill>
              </a:rPr>
              <a:t>1. Data Collection</a:t>
            </a:r>
          </a:p>
          <a:p xmlns:a="http://schemas.openxmlformats.org/drawingml/2006/main">
            <a:r>
              <a:rPr lang="en-US" sz="1300" b="0">
                <a:solidFill>
                  <a:srgbClr val="1E3A5F"/>
                </a:solidFill>
              </a:rPr>
              <a:t>Load and inspect the CSV dataset into a Pandas DataFrame</a:t>
            </a:r>
          </a:p>
        </p:txBody>
      </p:sp>
      <p:sp>
        <p:nvSpPr>
          <p:cNvPr id="100020" name="ScopeBox2"/>
          <p:cNvSpPr txBox="1"/>
          <p:nvPr/>
        </p:nvSpPr>
        <p:spPr>
          <a:xfrm xmlns:a="http://schemas.openxmlformats.org/drawingml/2006/main">
            <a:off x="4320000" y="2268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4532D"/>
                </a:solidFill>
              </a:rPr>
              <a:t>2. Data Quality</a:t>
            </a:r>
          </a:p>
          <a:p xmlns:a="http://schemas.openxmlformats.org/drawingml/2006/main">
            <a:r>
              <a:rPr lang="en-US" sz="1300" b="0">
                <a:solidFill>
                  <a:srgbClr val="14532D"/>
                </a:solidFill>
              </a:rPr>
              <a:t>Check for missing values, duplicates, and outliers</a:t>
            </a:r>
          </a:p>
        </p:txBody>
      </p:sp>
      <p:sp>
        <p:nvSpPr>
          <p:cNvPr id="100021" name="ScopeBox3"/>
          <p:cNvSpPr txBox="1"/>
          <p:nvPr/>
        </p:nvSpPr>
        <p:spPr>
          <a:xfrm xmlns:a="http://schemas.openxmlformats.org/drawingml/2006/main">
            <a:off x="8100000" y="2268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C2D12"/>
                </a:solidFill>
              </a:rPr>
              <a:t>3. Sales Metrics</a:t>
            </a:r>
          </a:p>
          <a:p xmlns:a="http://schemas.openxmlformats.org/drawingml/2006/main">
            <a:r>
              <a:rPr lang="en-US" sz="1300" b="0">
                <a:solidFill>
                  <a:srgbClr val="7C2D12"/>
                </a:solidFill>
              </a:rPr>
              <a:t>Calculate Sales Score = Gender × Age and analyse segments</a:t>
            </a:r>
          </a:p>
        </p:txBody>
      </p:sp>
      <p:sp>
        <p:nvSpPr>
          <p:cNvPr id="100022" name="ScopeBox4"/>
          <p:cNvSpPr txBox="1"/>
          <p:nvPr/>
        </p:nvSpPr>
        <p:spPr>
          <a:xfrm xmlns:a="http://schemas.openxmlformats.org/drawingml/2006/main">
            <a:off x="540000" y="3672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581C87"/>
                </a:solidFill>
              </a:rPr>
              <a:t>4. Group Summary</a:t>
            </a:r>
          </a:p>
          <a:p xmlns:a="http://schemas.openxmlformats.org/drawingml/2006/main">
            <a:r>
              <a:rPr lang="en-US" sz="1300" b="0">
                <a:solidFill>
                  <a:srgbClr val="581C87"/>
                </a:solidFill>
              </a:rPr>
              <a:t>Aggregate totals, counts, and averages by category</a:t>
            </a:r>
          </a:p>
        </p:txBody>
      </p:sp>
      <p:sp>
        <p:nvSpPr>
          <p:cNvPr id="100023" name="ScopeBox5"/>
          <p:cNvSpPr txBox="1"/>
          <p:nvPr/>
        </p:nvSpPr>
        <p:spPr>
          <a:xfrm xmlns:a="http://schemas.openxmlformats.org/drawingml/2006/main">
            <a:off x="4320000" y="3672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64E63"/>
                </a:solidFill>
              </a:rPr>
              <a:t>5. Visualisation</a:t>
            </a:r>
          </a:p>
          <a:p xmlns:a="http://schemas.openxmlformats.org/drawingml/2006/main">
            <a:r>
              <a:rPr lang="en-US" sz="1300" b="0">
                <a:solidFill>
                  <a:srgbClr val="164E63"/>
                </a:solidFill>
              </a:rPr>
              <a:t>Create charts for gender, age, income, feedback &amp; more</a:t>
            </a:r>
          </a:p>
        </p:txBody>
      </p:sp>
      <p:sp>
        <p:nvSpPr>
          <p:cNvPr id="100024" name="ScopeBox6"/>
          <p:cNvSpPr txBox="1"/>
          <p:nvPr/>
        </p:nvSpPr>
        <p:spPr>
          <a:xfrm xmlns:a="http://schemas.openxmlformats.org/drawingml/2006/main">
            <a:off x="8100000" y="3672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3A5F"/>
                </a:solidFill>
              </a:rPr>
              <a:t>6. Business Decisions</a:t>
            </a:r>
          </a:p>
          <a:p xmlns:a="http://schemas.openxmlformats.org/drawingml/2006/main">
            <a:r>
              <a:rPr lang="en-US" sz="1300" b="0">
                <a:solidFill>
                  <a:srgbClr val="1E3A5F"/>
                </a:solidFill>
              </a:rPr>
              <a:t>Translate insights into 8 prioritised action items</a:t>
            </a:r>
          </a:p>
        </p:txBody>
      </p:sp>
      <p:sp>
        <p:nvSpPr>
          <p:cNvPr id="100025" name="Foote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 b="0">
                <a:solidFill>
                  <a:srgbClr val="94A3B8"/>
                </a:solidFill>
              </a:rPr>
              <a:t>Online Food Delivery — Data Analytics Project Report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26" name="HeaderBar"/>
          <p:cNvSpPr txBox="1"/>
          <p:nvPr/>
        </p:nvSpPr>
        <p:spPr>
          <a:xfrm xmlns:a="http://schemas.openxmlformats.org/drawingml/2006/main">
            <a:off x="0" y="0"/>
            <a:ext cx="121932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E3A5F"/>
              </a:solidFill>
            </a:endParaRPr>
          </a:p>
        </p:txBody>
      </p:sp>
      <p:sp>
        <p:nvSpPr>
          <p:cNvPr id="100027" name="SlideTitle"/>
          <p:cNvSpPr txBox="1"/>
          <p:nvPr/>
        </p:nvSpPr>
        <p:spPr>
          <a:xfrm xmlns:a="http://schemas.openxmlformats.org/drawingml/2006/main">
            <a:off x="360000" y="72000"/>
            <a:ext cx="90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02  Dataset Description</a:t>
            </a:r>
          </a:p>
        </p:txBody>
      </p:sp>
      <p:sp>
        <p:nvSpPr>
          <p:cNvPr id="100028" name="Slide#"/>
          <p:cNvSpPr txBox="1"/>
          <p:nvPr/>
        </p:nvSpPr>
        <p:spPr>
          <a:xfrm xmlns:a="http://schemas.openxmlformats.org/drawingml/2006/main">
            <a:off x="10800000" y="108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F97316"/>
                </a:solidFill>
              </a:rPr>
              <a:t>04</a:t>
            </a:r>
          </a:p>
        </p:txBody>
      </p:sp>
      <p:sp>
        <p:nvSpPr>
          <p:cNvPr id="100029" name="InfoBar"/>
          <p:cNvSpPr txBox="1"/>
          <p:nvPr/>
        </p:nvSpPr>
        <p:spPr>
          <a:xfrm xmlns:a="http://schemas.openxmlformats.org/drawingml/2006/main">
            <a:off x="360000" y="648000"/>
            <a:ext cx="1152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FFFFFF"/>
                </a:solidFill>
              </a:rPr>
              <a:t>File: online food delivery dataset.csv     |     Total Records: 388     |     Total Features: 13     |     Missing Values: 0</a:t>
            </a:r>
          </a:p>
        </p:txBody>
      </p:sp>
      <p:sp>
        <p:nvSpPr>
          <p:cNvPr id="100030" name="ColHeader"/>
          <p:cNvSpPr txBox="1"/>
          <p:nvPr/>
        </p:nvSpPr>
        <p:spPr>
          <a:xfrm xmlns:a="http://schemas.openxmlformats.org/drawingml/2006/main">
            <a:off x="540000" y="1080000"/>
            <a:ext cx="216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Column Name</a:t>
            </a:r>
          </a:p>
        </p:txBody>
      </p:sp>
      <p:sp>
        <p:nvSpPr>
          <p:cNvPr id="100031" name="TypeHeader"/>
          <p:cNvSpPr txBox="1"/>
          <p:nvPr/>
        </p:nvSpPr>
        <p:spPr>
          <a:xfrm xmlns:a="http://schemas.openxmlformats.org/drawingml/2006/main">
            <a:off x="2736000" y="1080000"/>
            <a:ext cx="108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00032" name="DescHeader"/>
          <p:cNvSpPr txBox="1"/>
          <p:nvPr/>
        </p:nvSpPr>
        <p:spPr>
          <a:xfrm xmlns:a="http://schemas.openxmlformats.org/drawingml/2006/main">
            <a:off x="3852000" y="1080000"/>
            <a:ext cx="79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00033" name="R1"/>
          <p:cNvSpPr txBox="1"/>
          <p:nvPr/>
        </p:nvSpPr>
        <p:spPr>
          <a:xfrm xmlns:a="http://schemas.openxmlformats.org/drawingml/2006/main">
            <a:off x="540000" y="1350000"/>
            <a:ext cx="2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3A5F"/>
                </a:solidFill>
              </a:rPr>
              <a:t>Age</a:t>
            </a:r>
          </a:p>
        </p:txBody>
      </p:sp>
      <p:sp>
        <p:nvSpPr>
          <p:cNvPr id="100034" name="R1T"/>
          <p:cNvSpPr txBox="1"/>
          <p:nvPr/>
        </p:nvSpPr>
        <p:spPr>
          <a:xfrm xmlns:a="http://schemas.openxmlformats.org/drawingml/2006/main">
            <a:off x="2736000" y="1350000"/>
            <a:ext cx="108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65F46"/>
                </a:solidFill>
              </a:rPr>
              <a:t>Numeric</a:t>
            </a:r>
          </a:p>
        </p:txBody>
      </p:sp>
      <p:sp>
        <p:nvSpPr>
          <p:cNvPr id="100035" name="R1D"/>
          <p:cNvSpPr txBox="1"/>
          <p:nvPr/>
        </p:nvSpPr>
        <p:spPr>
          <a:xfrm xmlns:a="http://schemas.openxmlformats.org/drawingml/2006/main">
            <a:off x="3852000" y="1350000"/>
            <a:ext cx="792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Customer age in years (range: 18–58)</a:t>
            </a:r>
          </a:p>
        </p:txBody>
      </p:sp>
      <p:sp>
        <p:nvSpPr>
          <p:cNvPr id="100036" name="R2"/>
          <p:cNvSpPr txBox="1"/>
          <p:nvPr/>
        </p:nvSpPr>
        <p:spPr>
          <a:xfrm xmlns:a="http://schemas.openxmlformats.org/drawingml/2006/main">
            <a:off x="540000" y="1602000"/>
            <a:ext cx="2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3A5F"/>
                </a:solidFill>
              </a:rPr>
              <a:t>Gender</a:t>
            </a:r>
          </a:p>
        </p:txBody>
      </p:sp>
      <p:sp>
        <p:nvSpPr>
          <p:cNvPr id="100037" name="R2T"/>
          <p:cNvSpPr txBox="1"/>
          <p:nvPr/>
        </p:nvSpPr>
        <p:spPr>
          <a:xfrm xmlns:a="http://schemas.openxmlformats.org/drawingml/2006/main">
            <a:off x="2736000" y="1602000"/>
            <a:ext cx="108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92400E"/>
                </a:solidFill>
              </a:rPr>
              <a:t>Categorical</a:t>
            </a:r>
          </a:p>
        </p:txBody>
      </p:sp>
      <p:sp>
        <p:nvSpPr>
          <p:cNvPr id="100038" name="R2D"/>
          <p:cNvSpPr txBox="1"/>
          <p:nvPr/>
        </p:nvSpPr>
        <p:spPr>
          <a:xfrm xmlns:a="http://schemas.openxmlformats.org/drawingml/2006/main">
            <a:off x="3852000" y="1602000"/>
            <a:ext cx="792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Male / Female</a:t>
            </a:r>
          </a:p>
        </p:txBody>
      </p:sp>
      <p:sp>
        <p:nvSpPr>
          <p:cNvPr id="100039" name="R3"/>
          <p:cNvSpPr txBox="1"/>
          <p:nvPr/>
        </p:nvSpPr>
        <p:spPr>
          <a:xfrm xmlns:a="http://schemas.openxmlformats.org/drawingml/2006/main">
            <a:off x="540000" y="1854000"/>
            <a:ext cx="2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3A5F"/>
                </a:solidFill>
              </a:rPr>
              <a:t>Marital Status</a:t>
            </a:r>
          </a:p>
        </p:txBody>
      </p:sp>
      <p:sp>
        <p:nvSpPr>
          <p:cNvPr id="100040" name="R3T"/>
          <p:cNvSpPr txBox="1"/>
          <p:nvPr/>
        </p:nvSpPr>
        <p:spPr>
          <a:xfrm xmlns:a="http://schemas.openxmlformats.org/drawingml/2006/main">
            <a:off x="2736000" y="1854000"/>
            <a:ext cx="108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92400E"/>
                </a:solidFill>
              </a:rPr>
              <a:t>Categorical</a:t>
            </a:r>
          </a:p>
        </p:txBody>
      </p:sp>
      <p:sp>
        <p:nvSpPr>
          <p:cNvPr id="100041" name="R3D"/>
          <p:cNvSpPr txBox="1"/>
          <p:nvPr/>
        </p:nvSpPr>
        <p:spPr>
          <a:xfrm xmlns:a="http://schemas.openxmlformats.org/drawingml/2006/main">
            <a:off x="3852000" y="1854000"/>
            <a:ext cx="792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Single / Married / Prefer not to say</a:t>
            </a:r>
          </a:p>
        </p:txBody>
      </p:sp>
      <p:sp>
        <p:nvSpPr>
          <p:cNvPr id="100042" name="R4"/>
          <p:cNvSpPr txBox="1"/>
          <p:nvPr/>
        </p:nvSpPr>
        <p:spPr>
          <a:xfrm xmlns:a="http://schemas.openxmlformats.org/drawingml/2006/main">
            <a:off x="540000" y="2106000"/>
            <a:ext cx="2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3A5F"/>
                </a:solidFill>
              </a:rPr>
              <a:t>Occupation</a:t>
            </a:r>
          </a:p>
        </p:txBody>
      </p:sp>
      <p:sp>
        <p:nvSpPr>
          <p:cNvPr id="100043" name="R4T"/>
          <p:cNvSpPr txBox="1"/>
          <p:nvPr/>
        </p:nvSpPr>
        <p:spPr>
          <a:xfrm xmlns:a="http://schemas.openxmlformats.org/drawingml/2006/main">
            <a:off x="2736000" y="2106000"/>
            <a:ext cx="108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92400E"/>
                </a:solidFill>
              </a:rPr>
              <a:t>Categorical</a:t>
            </a:r>
          </a:p>
        </p:txBody>
      </p:sp>
      <p:sp>
        <p:nvSpPr>
          <p:cNvPr id="100044" name="R4D"/>
          <p:cNvSpPr txBox="1"/>
          <p:nvPr/>
        </p:nvSpPr>
        <p:spPr>
          <a:xfrm xmlns:a="http://schemas.openxmlformats.org/drawingml/2006/main">
            <a:off x="3852000" y="2106000"/>
            <a:ext cx="792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Student / Employee / Self Employed / House wife</a:t>
            </a:r>
          </a:p>
        </p:txBody>
      </p:sp>
      <p:sp>
        <p:nvSpPr>
          <p:cNvPr id="100045" name="R5"/>
          <p:cNvSpPr txBox="1"/>
          <p:nvPr/>
        </p:nvSpPr>
        <p:spPr>
          <a:xfrm xmlns:a="http://schemas.openxmlformats.org/drawingml/2006/main">
            <a:off x="540000" y="2358000"/>
            <a:ext cx="2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3A5F"/>
                </a:solidFill>
              </a:rPr>
              <a:t>Monthly Income</a:t>
            </a:r>
          </a:p>
        </p:txBody>
      </p:sp>
      <p:sp>
        <p:nvSpPr>
          <p:cNvPr id="100046" name="R5T"/>
          <p:cNvSpPr txBox="1"/>
          <p:nvPr/>
        </p:nvSpPr>
        <p:spPr>
          <a:xfrm xmlns:a="http://schemas.openxmlformats.org/drawingml/2006/main">
            <a:off x="2736000" y="2358000"/>
            <a:ext cx="108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92400E"/>
                </a:solidFill>
              </a:rPr>
              <a:t>Categorical</a:t>
            </a:r>
          </a:p>
        </p:txBody>
      </p:sp>
      <p:sp>
        <p:nvSpPr>
          <p:cNvPr id="100047" name="R5D"/>
          <p:cNvSpPr txBox="1"/>
          <p:nvPr/>
        </p:nvSpPr>
        <p:spPr>
          <a:xfrm xmlns:a="http://schemas.openxmlformats.org/drawingml/2006/main">
            <a:off x="3852000" y="2358000"/>
            <a:ext cx="792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No Income / Below Rs.10000 / 10001-25000 / 25001-50000 / More than 50000</a:t>
            </a:r>
          </a:p>
        </p:txBody>
      </p:sp>
      <p:sp>
        <p:nvSpPr>
          <p:cNvPr id="100048" name="R6"/>
          <p:cNvSpPr txBox="1"/>
          <p:nvPr/>
        </p:nvSpPr>
        <p:spPr>
          <a:xfrm xmlns:a="http://schemas.openxmlformats.org/drawingml/2006/main">
            <a:off x="540000" y="2610000"/>
            <a:ext cx="2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3A5F"/>
                </a:solidFill>
              </a:rPr>
              <a:t>Educational Qual.</a:t>
            </a:r>
          </a:p>
        </p:txBody>
      </p:sp>
      <p:sp>
        <p:nvSpPr>
          <p:cNvPr id="100049" name="R6T"/>
          <p:cNvSpPr txBox="1"/>
          <p:nvPr/>
        </p:nvSpPr>
        <p:spPr>
          <a:xfrm xmlns:a="http://schemas.openxmlformats.org/drawingml/2006/main">
            <a:off x="2736000" y="2610000"/>
            <a:ext cx="108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92400E"/>
                </a:solidFill>
              </a:rPr>
              <a:t>Categorical</a:t>
            </a:r>
          </a:p>
        </p:txBody>
      </p:sp>
      <p:sp>
        <p:nvSpPr>
          <p:cNvPr id="100050" name="R6D"/>
          <p:cNvSpPr txBox="1"/>
          <p:nvPr/>
        </p:nvSpPr>
        <p:spPr>
          <a:xfrm xmlns:a="http://schemas.openxmlformats.org/drawingml/2006/main">
            <a:off x="3852000" y="2610000"/>
            <a:ext cx="792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Graduate / Post Graduate / Ph.D / Uneducated</a:t>
            </a:r>
          </a:p>
        </p:txBody>
      </p:sp>
      <p:sp>
        <p:nvSpPr>
          <p:cNvPr id="100051" name="R7"/>
          <p:cNvSpPr txBox="1"/>
          <p:nvPr/>
        </p:nvSpPr>
        <p:spPr>
          <a:xfrm xmlns:a="http://schemas.openxmlformats.org/drawingml/2006/main">
            <a:off x="540000" y="2862000"/>
            <a:ext cx="2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3A5F"/>
                </a:solidFill>
              </a:rPr>
              <a:t>Family size</a:t>
            </a:r>
          </a:p>
        </p:txBody>
      </p:sp>
      <p:sp>
        <p:nvSpPr>
          <p:cNvPr id="100052" name="R7T"/>
          <p:cNvSpPr txBox="1"/>
          <p:nvPr/>
        </p:nvSpPr>
        <p:spPr>
          <a:xfrm xmlns:a="http://schemas.openxmlformats.org/drawingml/2006/main">
            <a:off x="2736000" y="2862000"/>
            <a:ext cx="108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65F46"/>
                </a:solidFill>
              </a:rPr>
              <a:t>Numeric</a:t>
            </a:r>
          </a:p>
        </p:txBody>
      </p:sp>
      <p:sp>
        <p:nvSpPr>
          <p:cNvPr id="100053" name="R7D"/>
          <p:cNvSpPr txBox="1"/>
          <p:nvPr/>
        </p:nvSpPr>
        <p:spPr>
          <a:xfrm xmlns:a="http://schemas.openxmlformats.org/drawingml/2006/main">
            <a:off x="3852000" y="2862000"/>
            <a:ext cx="792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Number of family members (1–6)</a:t>
            </a:r>
          </a:p>
        </p:txBody>
      </p:sp>
      <p:sp>
        <p:nvSpPr>
          <p:cNvPr id="100054" name="R8"/>
          <p:cNvSpPr txBox="1"/>
          <p:nvPr/>
        </p:nvSpPr>
        <p:spPr>
          <a:xfrm xmlns:a="http://schemas.openxmlformats.org/drawingml/2006/main">
            <a:off x="540000" y="3114000"/>
            <a:ext cx="2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3A5F"/>
                </a:solidFill>
              </a:rPr>
              <a:t>Customer Type</a:t>
            </a:r>
          </a:p>
        </p:txBody>
      </p:sp>
      <p:sp>
        <p:nvSpPr>
          <p:cNvPr id="100055" name="R8T"/>
          <p:cNvSpPr txBox="1"/>
          <p:nvPr/>
        </p:nvSpPr>
        <p:spPr>
          <a:xfrm xmlns:a="http://schemas.openxmlformats.org/drawingml/2006/main">
            <a:off x="2736000" y="3114000"/>
            <a:ext cx="108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92400E"/>
                </a:solidFill>
              </a:rPr>
              <a:t>Categorical</a:t>
            </a:r>
          </a:p>
        </p:txBody>
      </p:sp>
      <p:sp>
        <p:nvSpPr>
          <p:cNvPr id="100056" name="R8D"/>
          <p:cNvSpPr txBox="1"/>
          <p:nvPr/>
        </p:nvSpPr>
        <p:spPr>
          <a:xfrm xmlns:a="http://schemas.openxmlformats.org/drawingml/2006/main">
            <a:off x="3852000" y="3114000"/>
            <a:ext cx="792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New / Regular / Frequent</a:t>
            </a:r>
          </a:p>
        </p:txBody>
      </p:sp>
      <p:sp>
        <p:nvSpPr>
          <p:cNvPr id="100057" name="R9"/>
          <p:cNvSpPr txBox="1"/>
          <p:nvPr/>
        </p:nvSpPr>
        <p:spPr>
          <a:xfrm xmlns:a="http://schemas.openxmlformats.org/drawingml/2006/main">
            <a:off x="540000" y="3366000"/>
            <a:ext cx="2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3A5F"/>
                </a:solidFill>
              </a:rPr>
              <a:t>Output</a:t>
            </a:r>
          </a:p>
        </p:txBody>
      </p:sp>
      <p:sp>
        <p:nvSpPr>
          <p:cNvPr id="100058" name="R9T"/>
          <p:cNvSpPr txBox="1"/>
          <p:nvPr/>
        </p:nvSpPr>
        <p:spPr>
          <a:xfrm xmlns:a="http://schemas.openxmlformats.org/drawingml/2006/main">
            <a:off x="2736000" y="3366000"/>
            <a:ext cx="108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40AF"/>
                </a:solidFill>
              </a:rPr>
              <a:t>Binary</a:t>
            </a:r>
          </a:p>
        </p:txBody>
      </p:sp>
      <p:sp>
        <p:nvSpPr>
          <p:cNvPr id="100059" name="R9D"/>
          <p:cNvSpPr txBox="1"/>
          <p:nvPr/>
        </p:nvSpPr>
        <p:spPr>
          <a:xfrm xmlns:a="http://schemas.openxmlformats.org/drawingml/2006/main">
            <a:off x="3852000" y="3366000"/>
            <a:ext cx="792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Whether customer orders food online — Yes / No (Target variable)</a:t>
            </a:r>
          </a:p>
        </p:txBody>
      </p:sp>
      <p:sp>
        <p:nvSpPr>
          <p:cNvPr id="100060" name="R10"/>
          <p:cNvSpPr txBox="1"/>
          <p:nvPr/>
        </p:nvSpPr>
        <p:spPr>
          <a:xfrm xmlns:a="http://schemas.openxmlformats.org/drawingml/2006/main">
            <a:off x="540000" y="3618000"/>
            <a:ext cx="2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3A5F"/>
                </a:solidFill>
              </a:rPr>
              <a:t>Feedback</a:t>
            </a:r>
          </a:p>
        </p:txBody>
      </p:sp>
      <p:sp>
        <p:nvSpPr>
          <p:cNvPr id="100061" name="R10T"/>
          <p:cNvSpPr txBox="1"/>
          <p:nvPr/>
        </p:nvSpPr>
        <p:spPr>
          <a:xfrm xmlns:a="http://schemas.openxmlformats.org/drawingml/2006/main">
            <a:off x="2736000" y="3618000"/>
            <a:ext cx="108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40AF"/>
                </a:solidFill>
              </a:rPr>
              <a:t>Binary</a:t>
            </a:r>
          </a:p>
        </p:txBody>
      </p:sp>
      <p:sp>
        <p:nvSpPr>
          <p:cNvPr id="100062" name="R10D"/>
          <p:cNvSpPr txBox="1"/>
          <p:nvPr/>
        </p:nvSpPr>
        <p:spPr>
          <a:xfrm xmlns:a="http://schemas.openxmlformats.org/drawingml/2006/main">
            <a:off x="3852000" y="3618000"/>
            <a:ext cx="792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Customer satisfaction sentiment — Positive / Negative</a:t>
            </a:r>
          </a:p>
        </p:txBody>
      </p:sp>
      <p:sp>
        <p:nvSpPr>
          <p:cNvPr id="100063" name="DerivedTitle"/>
          <p:cNvSpPr txBox="1"/>
          <p:nvPr/>
        </p:nvSpPr>
        <p:spPr>
          <a:xfrm xmlns:a="http://schemas.openxmlformats.org/drawingml/2006/main">
            <a:off x="540000" y="3960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E3A5F"/>
                </a:solidFill>
              </a:rPr>
              <a:t>Derived Features (engineered in code)</a:t>
            </a:r>
          </a:p>
        </p:txBody>
      </p:sp>
      <p:sp>
        <p:nvSpPr>
          <p:cNvPr id="100064" name="D1"/>
          <p:cNvSpPr txBox="1"/>
          <p:nvPr/>
        </p:nvSpPr>
        <p:spPr>
          <a:xfrm xmlns:a="http://schemas.openxmlformats.org/drawingml/2006/main">
            <a:off x="540000" y="4266000"/>
            <a:ext cx="2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581C87"/>
                </a:solidFill>
              </a:rPr>
              <a:t>Income_Numeric</a:t>
            </a:r>
          </a:p>
        </p:txBody>
      </p:sp>
      <p:sp>
        <p:nvSpPr>
          <p:cNvPr id="100065" name="D1D"/>
          <p:cNvSpPr txBox="1"/>
          <p:nvPr/>
        </p:nvSpPr>
        <p:spPr>
          <a:xfrm xmlns:a="http://schemas.openxmlformats.org/drawingml/2006/main">
            <a:off x="2736000" y="4266000"/>
            <a:ext cx="900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Midpoint of income bracket mapped to a numeric value (e.g. 'Below Rs.10000' → 5000)</a:t>
            </a:r>
          </a:p>
        </p:txBody>
      </p:sp>
      <p:sp>
        <p:nvSpPr>
          <p:cNvPr id="100066" name="D2"/>
          <p:cNvSpPr txBox="1"/>
          <p:nvPr/>
        </p:nvSpPr>
        <p:spPr>
          <a:xfrm xmlns:a="http://schemas.openxmlformats.org/drawingml/2006/main">
            <a:off x="540000" y="4518000"/>
            <a:ext cx="2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581C87"/>
                </a:solidFill>
              </a:rPr>
              <a:t>Gender_Code</a:t>
            </a:r>
          </a:p>
        </p:txBody>
      </p:sp>
      <p:sp>
        <p:nvSpPr>
          <p:cNvPr id="100067" name="D2D"/>
          <p:cNvSpPr txBox="1"/>
          <p:nvPr/>
        </p:nvSpPr>
        <p:spPr>
          <a:xfrm xmlns:a="http://schemas.openxmlformats.org/drawingml/2006/main">
            <a:off x="2736000" y="4518000"/>
            <a:ext cx="900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Male = 1, Female = 0 (binary encoding for Sales Score formula)</a:t>
            </a:r>
          </a:p>
        </p:txBody>
      </p:sp>
      <p:sp>
        <p:nvSpPr>
          <p:cNvPr id="100068" name="D3"/>
          <p:cNvSpPr txBox="1"/>
          <p:nvPr/>
        </p:nvSpPr>
        <p:spPr>
          <a:xfrm xmlns:a="http://schemas.openxmlformats.org/drawingml/2006/main">
            <a:off x="540000" y="4770000"/>
            <a:ext cx="2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581C87"/>
                </a:solidFill>
              </a:rPr>
              <a:t>Sales_Score</a:t>
            </a:r>
          </a:p>
        </p:txBody>
      </p:sp>
      <p:sp>
        <p:nvSpPr>
          <p:cNvPr id="100069" name="D3D"/>
          <p:cNvSpPr txBox="1"/>
          <p:nvPr/>
        </p:nvSpPr>
        <p:spPr>
          <a:xfrm xmlns:a="http://schemas.openxmlformats.org/drawingml/2006/main">
            <a:off x="2736000" y="4770000"/>
            <a:ext cx="900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Gender_Code × Age — male-specific engagement index proportional to customer age</a:t>
            </a:r>
          </a:p>
        </p:txBody>
      </p:sp>
      <p:sp>
        <p:nvSpPr>
          <p:cNvPr id="100070" name="Foote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 b="0">
                <a:solidFill>
                  <a:srgbClr val="94A3B8"/>
                </a:solidFill>
              </a:rPr>
              <a:t>Online Food Delivery — Data Analytics Project Report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71" name="HeaderBar"/>
          <p:cNvSpPr txBox="1"/>
          <p:nvPr/>
        </p:nvSpPr>
        <p:spPr>
          <a:xfrm xmlns:a="http://schemas.openxmlformats.org/drawingml/2006/main">
            <a:off x="0" y="0"/>
            <a:ext cx="121932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E3A5F"/>
              </a:solidFill>
            </a:endParaRPr>
          </a:p>
        </p:txBody>
      </p:sp>
      <p:sp>
        <p:nvSpPr>
          <p:cNvPr id="100072" name="SlideTitle"/>
          <p:cNvSpPr txBox="1"/>
          <p:nvPr/>
        </p:nvSpPr>
        <p:spPr>
          <a:xfrm xmlns:a="http://schemas.openxmlformats.org/drawingml/2006/main">
            <a:off x="360000" y="72000"/>
            <a:ext cx="90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03  Data Collection &amp; Loading</a:t>
            </a:r>
          </a:p>
        </p:txBody>
      </p:sp>
      <p:sp>
        <p:nvSpPr>
          <p:cNvPr id="100073" name="Slide#"/>
          <p:cNvSpPr txBox="1"/>
          <p:nvPr/>
        </p:nvSpPr>
        <p:spPr>
          <a:xfrm xmlns:a="http://schemas.openxmlformats.org/drawingml/2006/main">
            <a:off x="10800000" y="108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F97316"/>
                </a:solidFill>
              </a:rPr>
              <a:t>05</a:t>
            </a:r>
          </a:p>
        </p:txBody>
      </p:sp>
      <p:sp>
        <p:nvSpPr>
          <p:cNvPr id="100074" name="StepTitle"/>
          <p:cNvSpPr txBox="1"/>
          <p:nvPr/>
        </p:nvSpPr>
        <p:spPr>
          <a:xfrm xmlns:a="http://schemas.openxmlformats.org/drawingml/2006/main">
            <a:off x="540000" y="72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 b="1">
                <a:solidFill>
                  <a:srgbClr val="1E3A5F"/>
                </a:solidFill>
              </a:rPr>
              <a:t>Step-by-Step Data Loading Pipeline</a:t>
            </a:r>
          </a:p>
        </p:txBody>
      </p:sp>
      <p:sp>
        <p:nvSpPr>
          <p:cNvPr id="100075" name="S1Box"/>
          <p:cNvSpPr txBox="1"/>
          <p:nvPr/>
        </p:nvSpPr>
        <p:spPr>
          <a:xfrm xmlns:a="http://schemas.openxmlformats.org/drawingml/2006/main">
            <a:off x="540000" y="1152000"/>
            <a:ext cx="180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</a:rPr>
              <a:t>STEP 1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</a:rPr>
              <a:t>Read CSV</a:t>
            </a:r>
          </a:p>
        </p:txBody>
      </p:sp>
      <p:sp>
        <p:nvSpPr>
          <p:cNvPr id="100076" name="S1Desc"/>
          <p:cNvSpPr txBox="1"/>
          <p:nvPr/>
        </p:nvSpPr>
        <p:spPr>
          <a:xfrm xmlns:a="http://schemas.openxmlformats.org/drawingml/2006/main">
            <a:off x="540000" y="2016000"/>
            <a:ext cx="180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74151"/>
                </a:solidFill>
              </a:rPr>
              <a:t>pd.read_csv() loads the dataset into a DataFrame. Column names and string values are stripped of whitespace. Unnamed trailing columns (from CSV trailing comma) are dropped automatically.</a:t>
            </a:r>
          </a:p>
        </p:txBody>
      </p:sp>
      <p:sp>
        <p:nvSpPr>
          <p:cNvPr id="100077" name="Arr1"/>
          <p:cNvSpPr txBox="1"/>
          <p:nvPr/>
        </p:nvSpPr>
        <p:spPr>
          <a:xfrm xmlns:a="http://schemas.openxmlformats.org/drawingml/2006/main">
            <a:off x="2412000" y="1476000"/>
            <a:ext cx="3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00078" name="S2Box"/>
          <p:cNvSpPr txBox="1"/>
          <p:nvPr/>
        </p:nvSpPr>
        <p:spPr>
          <a:xfrm xmlns:a="http://schemas.openxmlformats.org/drawingml/2006/main">
            <a:off x="2808000" y="1152000"/>
            <a:ext cx="180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</a:rPr>
              <a:t>STEP 2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</a:rPr>
              <a:t>Inspect</a:t>
            </a:r>
          </a:p>
        </p:txBody>
      </p:sp>
      <p:sp>
        <p:nvSpPr>
          <p:cNvPr id="100079" name="S2Desc"/>
          <p:cNvSpPr txBox="1"/>
          <p:nvPr/>
        </p:nvSpPr>
        <p:spPr>
          <a:xfrm xmlns:a="http://schemas.openxmlformats.org/drawingml/2006/main">
            <a:off x="2808000" y="2016000"/>
            <a:ext cx="180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74151"/>
                </a:solidFill>
              </a:rPr>
              <a:t>DataFrame shape, dtypes, and head() are checked. Descriptive statistics generated with describe(). Categorical unique values enumerated per column.</a:t>
            </a:r>
          </a:p>
        </p:txBody>
      </p:sp>
      <p:sp>
        <p:nvSpPr>
          <p:cNvPr id="100080" name="Arr2"/>
          <p:cNvSpPr txBox="1"/>
          <p:nvPr/>
        </p:nvSpPr>
        <p:spPr>
          <a:xfrm xmlns:a="http://schemas.openxmlformats.org/drawingml/2006/main">
            <a:off x="4680000" y="1476000"/>
            <a:ext cx="3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00081" name="S3Box"/>
          <p:cNvSpPr txBox="1"/>
          <p:nvPr/>
        </p:nvSpPr>
        <p:spPr>
          <a:xfrm xmlns:a="http://schemas.openxmlformats.org/drawingml/2006/main">
            <a:off x="5076000" y="1152000"/>
            <a:ext cx="180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</a:rPr>
              <a:t>STEP 3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</a:rPr>
              <a:t>Encode</a:t>
            </a:r>
          </a:p>
        </p:txBody>
      </p:sp>
      <p:sp>
        <p:nvSpPr>
          <p:cNvPr id="100082" name="S3Desc"/>
          <p:cNvSpPr txBox="1"/>
          <p:nvPr/>
        </p:nvSpPr>
        <p:spPr>
          <a:xfrm xmlns:a="http://schemas.openxmlformats.org/drawingml/2006/main">
            <a:off x="5076000" y="2016000"/>
            <a:ext cx="180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74151"/>
                </a:solidFill>
              </a:rPr>
              <a:t>Income brackets mapped to numeric midpoints. Gender encoded as Male=1, Female=0. Sales Score calculated as Gender_Code × Age.</a:t>
            </a:r>
          </a:p>
        </p:txBody>
      </p:sp>
      <p:sp>
        <p:nvSpPr>
          <p:cNvPr id="100083" name="Arr3"/>
          <p:cNvSpPr txBox="1"/>
          <p:nvPr/>
        </p:nvSpPr>
        <p:spPr>
          <a:xfrm xmlns:a="http://schemas.openxmlformats.org/drawingml/2006/main">
            <a:off x="6948000" y="1476000"/>
            <a:ext cx="3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00084" name="S4Box"/>
          <p:cNvSpPr txBox="1"/>
          <p:nvPr/>
        </p:nvSpPr>
        <p:spPr>
          <a:xfrm xmlns:a="http://schemas.openxmlformats.org/drawingml/2006/main">
            <a:off x="7344000" y="1152000"/>
            <a:ext cx="180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</a:rPr>
              <a:t>STEP 4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</a:rPr>
              <a:t>Filter</a:t>
            </a:r>
          </a:p>
        </p:txBody>
      </p:sp>
      <p:sp>
        <p:nvSpPr>
          <p:cNvPr id="100085" name="S4Desc"/>
          <p:cNvSpPr txBox="1"/>
          <p:nvPr/>
        </p:nvSpPr>
        <p:spPr>
          <a:xfrm xmlns:a="http://schemas.openxmlformats.org/drawingml/2006/main">
            <a:off x="7344000" y="2016000"/>
            <a:ext cx="180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74151"/>
                </a:solidFill>
              </a:rPr>
              <a:t>Sidebar filters applied dynamically: Gender, Occupation, Age range, Customer Type. All downstream analysis runs on the filtered subset in real time.</a:t>
            </a:r>
          </a:p>
        </p:txBody>
      </p:sp>
      <p:sp>
        <p:nvSpPr>
          <p:cNvPr id="100086" name="Arr4"/>
          <p:cNvSpPr txBox="1"/>
          <p:nvPr/>
        </p:nvSpPr>
        <p:spPr>
          <a:xfrm xmlns:a="http://schemas.openxmlformats.org/drawingml/2006/main">
            <a:off x="9216000" y="1476000"/>
            <a:ext cx="3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00087" name="S5Box"/>
          <p:cNvSpPr txBox="1"/>
          <p:nvPr/>
        </p:nvSpPr>
        <p:spPr>
          <a:xfrm xmlns:a="http://schemas.openxmlformats.org/drawingml/2006/main">
            <a:off x="9612000" y="1152000"/>
            <a:ext cx="198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</a:rPr>
              <a:t>STEP 5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</a:rPr>
              <a:t>Analyse</a:t>
            </a:r>
          </a:p>
        </p:txBody>
      </p:sp>
      <p:sp>
        <p:nvSpPr>
          <p:cNvPr id="100088" name="S5Desc"/>
          <p:cNvSpPr txBox="1"/>
          <p:nvPr/>
        </p:nvSpPr>
        <p:spPr>
          <a:xfrm xmlns:a="http://schemas.openxmlformats.org/drawingml/2006/main">
            <a:off x="9612000" y="2016000"/>
            <a:ext cx="198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74151"/>
                </a:solidFill>
              </a:rPr>
              <a:t>Six analysis modules run sequentially: quality, sales, groupby summaries, 9 chart types, and business decision generation.</a:t>
            </a:r>
          </a:p>
        </p:txBody>
      </p:sp>
      <p:sp>
        <p:nvSpPr>
          <p:cNvPr id="100089" name="CodeTitle"/>
          <p:cNvSpPr txBox="1"/>
          <p:nvPr/>
        </p:nvSpPr>
        <p:spPr>
          <a:xfrm xmlns:a="http://schemas.openxmlformats.org/drawingml/2006/main">
            <a:off x="540000" y="3780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Key Libraries Used</a:t>
            </a:r>
          </a:p>
        </p:txBody>
      </p:sp>
      <p:sp>
        <p:nvSpPr>
          <p:cNvPr id="100090" name="Lib1"/>
          <p:cNvSpPr txBox="1"/>
          <p:nvPr/>
        </p:nvSpPr>
        <p:spPr>
          <a:xfrm xmlns:a="http://schemas.openxmlformats.org/drawingml/2006/main">
            <a:off x="540000" y="4104000"/>
            <a:ext cx="25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40AF"/>
                </a:solidFill>
              </a:rPr>
              <a:t>pandas</a:t>
            </a:r>
          </a:p>
          <a:p xmlns:a="http://schemas.openxmlformats.org/drawingml/2006/main">
            <a:r>
              <a:rPr lang="en-US" sz="1300" b="0">
                <a:solidFill>
                  <a:srgbClr val="1E40AF"/>
                </a:solidFill>
              </a:rPr>
              <a:t>DataFrame operations, groupby, aggregation</a:t>
            </a:r>
          </a:p>
        </p:txBody>
      </p:sp>
      <p:sp>
        <p:nvSpPr>
          <p:cNvPr id="100091" name="Lib2"/>
          <p:cNvSpPr txBox="1"/>
          <p:nvPr/>
        </p:nvSpPr>
        <p:spPr>
          <a:xfrm xmlns:a="http://schemas.openxmlformats.org/drawingml/2006/main">
            <a:off x="3420000" y="4104000"/>
            <a:ext cx="25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65F46"/>
                </a:solidFill>
              </a:rPr>
              <a:t>numpy</a:t>
            </a:r>
          </a:p>
          <a:p xmlns:a="http://schemas.openxmlformats.org/drawingml/2006/main">
            <a:r>
              <a:rPr lang="en-US" sz="1300" b="0">
                <a:solidFill>
                  <a:srgbClr val="065F46"/>
                </a:solidFill>
              </a:rPr>
              <a:t>Numerical operations, correlation matrix</a:t>
            </a:r>
          </a:p>
        </p:txBody>
      </p:sp>
      <p:sp>
        <p:nvSpPr>
          <p:cNvPr id="100092" name="Lib3"/>
          <p:cNvSpPr txBox="1"/>
          <p:nvPr/>
        </p:nvSpPr>
        <p:spPr>
          <a:xfrm xmlns:a="http://schemas.openxmlformats.org/drawingml/2006/main">
            <a:off x="6300000" y="4104000"/>
            <a:ext cx="25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92400E"/>
                </a:solidFill>
              </a:rPr>
              <a:t>matplotlib</a:t>
            </a:r>
          </a:p>
          <a:p xmlns:a="http://schemas.openxmlformats.org/drawingml/2006/main">
            <a:r>
              <a:rPr lang="en-US" sz="1300" b="0">
                <a:solidFill>
                  <a:srgbClr val="92400E"/>
                </a:solidFill>
              </a:rPr>
              <a:t>Bar, pie, histogram, line charts</a:t>
            </a:r>
          </a:p>
        </p:txBody>
      </p:sp>
      <p:sp>
        <p:nvSpPr>
          <p:cNvPr id="100093" name="Lib4"/>
          <p:cNvSpPr txBox="1"/>
          <p:nvPr/>
        </p:nvSpPr>
        <p:spPr>
          <a:xfrm xmlns:a="http://schemas.openxmlformats.org/drawingml/2006/main">
            <a:off x="9180000" y="4104000"/>
            <a:ext cx="25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581C87"/>
                </a:solidFill>
              </a:rPr>
              <a:t>seaborn</a:t>
            </a:r>
          </a:p>
          <a:p xmlns:a="http://schemas.openxmlformats.org/drawingml/2006/main">
            <a:r>
              <a:rPr lang="en-US" sz="1300" b="0">
                <a:solidFill>
                  <a:srgbClr val="581C87"/>
                </a:solidFill>
              </a:rPr>
              <a:t>Heatmap &amp; correlation visualisation</a:t>
            </a:r>
          </a:p>
        </p:txBody>
      </p:sp>
      <p:sp>
        <p:nvSpPr>
          <p:cNvPr id="100094" name="Lib5"/>
          <p:cNvSpPr txBox="1"/>
          <p:nvPr/>
        </p:nvSpPr>
        <p:spPr>
          <a:xfrm xmlns:a="http://schemas.openxmlformats.org/drawingml/2006/main">
            <a:off x="540000" y="5040000"/>
            <a:ext cx="1116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streamlit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</a:rPr>
              <a:t>Interactive web UI with sidebar filters and 6 tabbed views</a:t>
            </a:r>
          </a:p>
        </p:txBody>
      </p:sp>
      <p:sp>
        <p:nvSpPr>
          <p:cNvPr id="100095" name="Foote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 b="0">
                <a:solidFill>
                  <a:srgbClr val="94A3B8"/>
                </a:solidFill>
              </a:rPr>
              <a:t>Online Food Delivery — Data Analytics Project Report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96" name="HeaderBar"/>
          <p:cNvSpPr txBox="1"/>
          <p:nvPr/>
        </p:nvSpPr>
        <p:spPr>
          <a:xfrm xmlns:a="http://schemas.openxmlformats.org/drawingml/2006/main">
            <a:off x="0" y="0"/>
            <a:ext cx="121932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7" name="SlideTitle"/>
          <p:cNvSpPr txBox="1"/>
          <p:nvPr/>
        </p:nvSpPr>
        <p:spPr>
          <a:xfrm xmlns:a="http://schemas.openxmlformats.org/drawingml/2006/main">
            <a:off x="360000" y="72000"/>
            <a:ext cx="90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04  Data Quality Check</a:t>
            </a:r>
          </a:p>
        </p:txBody>
      </p:sp>
      <p:sp>
        <p:nvSpPr>
          <p:cNvPr id="100098" name="Slide#"/>
          <p:cNvSpPr txBox="1"/>
          <p:nvPr/>
        </p:nvSpPr>
        <p:spPr>
          <a:xfrm xmlns:a="http://schemas.openxmlformats.org/drawingml/2006/main">
            <a:off x="10800000" y="108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F97316"/>
                </a:solidFill>
              </a:rPr>
              <a:t>06</a:t>
            </a:r>
          </a:p>
        </p:txBody>
      </p:sp>
      <p:sp>
        <p:nvSpPr>
          <p:cNvPr id="100099" name="ResultBanner"/>
          <p:cNvSpPr txBox="1"/>
          <p:nvPr/>
        </p:nvSpPr>
        <p:spPr>
          <a:xfrm xmlns:a="http://schemas.openxmlformats.org/drawingml/2006/main">
            <a:off x="360000" y="648000"/>
            <a:ext cx="1152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</a:rPr>
              <a:t>Result: Dataset is CLEAN — 0 Missing Values · 0 Duplicate Rows · All 388 records valid</a:t>
            </a:r>
          </a:p>
        </p:txBody>
      </p:sp>
      <p:sp>
        <p:nvSpPr>
          <p:cNvPr id="100100" name="ChecksTitle"/>
          <p:cNvSpPr txBox="1"/>
          <p:nvPr/>
        </p:nvSpPr>
        <p:spPr>
          <a:xfrm xmlns:a="http://schemas.openxmlformats.org/drawingml/2006/main">
            <a:off x="540000" y="1080000"/>
            <a:ext cx="72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3A5F"/>
                </a:solidFill>
              </a:rPr>
              <a:t>Quality Checks Performed</a:t>
            </a:r>
          </a:p>
        </p:txBody>
      </p:sp>
      <p:sp>
        <p:nvSpPr>
          <p:cNvPr id="100101" name="C1"/>
          <p:cNvSpPr txBox="1"/>
          <p:nvPr/>
        </p:nvSpPr>
        <p:spPr>
          <a:xfrm xmlns:a="http://schemas.openxmlformats.org/drawingml/2006/main">
            <a:off x="540000" y="1440000"/>
            <a:ext cx="3420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65F46"/>
                </a:solidFill>
              </a:rPr>
              <a:t>Null / Missing Values</a:t>
            </a:r>
          </a:p>
          <a:p xmlns:a="http://schemas.openxmlformats.org/drawingml/2006/main">
            <a:r>
              <a:rPr lang="en-US" sz="1300" b="0">
                <a:solidFill>
                  <a:srgbClr val="065F46"/>
                </a:solidFill>
              </a:rPr>
              <a:t>Checked isnull().sum() across all 13 columns. Result: 0 nulls in entire dataset. No imputation required.</a:t>
            </a:r>
          </a:p>
        </p:txBody>
      </p:sp>
      <p:sp>
        <p:nvSpPr>
          <p:cNvPr id="100102" name="C2"/>
          <p:cNvSpPr txBox="1"/>
          <p:nvPr/>
        </p:nvSpPr>
        <p:spPr>
          <a:xfrm xmlns:a="http://schemas.openxmlformats.org/drawingml/2006/main">
            <a:off x="4320000" y="1440000"/>
            <a:ext cx="3420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40AF"/>
                </a:solidFill>
              </a:rPr>
              <a:t>Duplicate Rows</a:t>
            </a:r>
          </a:p>
          <a:p xmlns:a="http://schemas.openxmlformats.org/drawingml/2006/main">
            <a:r>
              <a:rPr lang="en-US" sz="1300" b="0">
                <a:solidFill>
                  <a:srgbClr val="1E40AF"/>
                </a:solidFill>
              </a:rPr>
              <a:t>Ran duplicated().sum() on full DataFrame. Result: 0 duplicate records. All 388 entries are unique.</a:t>
            </a:r>
          </a:p>
        </p:txBody>
      </p:sp>
      <p:sp>
        <p:nvSpPr>
          <p:cNvPr id="100103" name="C3"/>
          <p:cNvSpPr txBox="1"/>
          <p:nvPr/>
        </p:nvSpPr>
        <p:spPr>
          <a:xfrm xmlns:a="http://schemas.openxmlformats.org/drawingml/2006/main">
            <a:off x="540000" y="2808000"/>
            <a:ext cx="3420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92400E"/>
                </a:solidFill>
              </a:rPr>
              <a:t>Data Type Validation</a:t>
            </a:r>
          </a:p>
          <a:p xmlns:a="http://schemas.openxmlformats.org/drawingml/2006/main">
            <a:r>
              <a:rPr lang="en-US" sz="1300" b="0">
                <a:solidFill>
                  <a:srgbClr val="92400E"/>
                </a:solidFill>
              </a:rPr>
              <a:t>Numeric columns (Age, Family size) confirmed as int64. Categorical columns confirmed as object. No type mismatches.</a:t>
            </a:r>
          </a:p>
        </p:txBody>
      </p:sp>
      <p:sp>
        <p:nvSpPr>
          <p:cNvPr id="100104" name="C4"/>
          <p:cNvSpPr txBox="1"/>
          <p:nvPr/>
        </p:nvSpPr>
        <p:spPr>
          <a:xfrm xmlns:a="http://schemas.openxmlformats.org/drawingml/2006/main">
            <a:off x="4320000" y="2808000"/>
            <a:ext cx="3420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581C87"/>
                </a:solidFill>
              </a:rPr>
              <a:t>String Whitespace</a:t>
            </a:r>
          </a:p>
          <a:p xmlns:a="http://schemas.openxmlformats.org/drawingml/2006/main">
            <a:r>
              <a:rPr lang="en-US" sz="1300" b="0">
                <a:solidFill>
                  <a:srgbClr val="581C87"/>
                </a:solidFill>
              </a:rPr>
              <a:t>All object columns stripped with str.strip(). Trailing comma in CSV header removed (Unnamed column dropped).</a:t>
            </a:r>
          </a:p>
        </p:txBody>
      </p:sp>
      <p:sp>
        <p:nvSpPr>
          <p:cNvPr id="100105" name="StatsTitle"/>
          <p:cNvSpPr txBox="1"/>
          <p:nvPr/>
        </p:nvSpPr>
        <p:spPr>
          <a:xfrm xmlns:a="http://schemas.openxmlformats.org/drawingml/2006/main">
            <a:off x="8100000" y="1080000"/>
            <a:ext cx="36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Descriptive Statistics (Raw Dataset)</a:t>
            </a:r>
          </a:p>
        </p:txBody>
      </p:sp>
      <p:sp>
        <p:nvSpPr>
          <p:cNvPr id="100106" name="StH1"/>
          <p:cNvSpPr txBox="1"/>
          <p:nvPr/>
        </p:nvSpPr>
        <p:spPr>
          <a:xfrm xmlns:a="http://schemas.openxmlformats.org/drawingml/2006/main">
            <a:off x="8100000" y="1440000"/>
            <a:ext cx="144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00107" name="StH2"/>
          <p:cNvSpPr txBox="1"/>
          <p:nvPr/>
        </p:nvSpPr>
        <p:spPr>
          <a:xfrm xmlns:a="http://schemas.openxmlformats.org/drawingml/2006/main">
            <a:off x="9576000" y="1440000"/>
            <a:ext cx="9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Age</a:t>
            </a:r>
          </a:p>
        </p:txBody>
      </p:sp>
      <p:sp>
        <p:nvSpPr>
          <p:cNvPr id="100108" name="StH3"/>
          <p:cNvSpPr txBox="1"/>
          <p:nvPr/>
        </p:nvSpPr>
        <p:spPr>
          <a:xfrm xmlns:a="http://schemas.openxmlformats.org/drawingml/2006/main">
            <a:off x="10512000" y="1440000"/>
            <a:ext cx="108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Family Size</a:t>
            </a:r>
          </a:p>
        </p:txBody>
      </p:sp>
      <p:sp>
        <p:nvSpPr>
          <p:cNvPr id="100109" name="St1L"/>
          <p:cNvSpPr txBox="1"/>
          <p:nvPr/>
        </p:nvSpPr>
        <p:spPr>
          <a:xfrm xmlns:a="http://schemas.openxmlformats.org/drawingml/2006/main">
            <a:off x="8100000" y="1692000"/>
            <a:ext cx="144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Min</a:t>
            </a:r>
          </a:p>
        </p:txBody>
      </p:sp>
      <p:sp>
        <p:nvSpPr>
          <p:cNvPr id="100110" name="St1V1"/>
          <p:cNvSpPr txBox="1"/>
          <p:nvPr/>
        </p:nvSpPr>
        <p:spPr>
          <a:xfrm xmlns:a="http://schemas.openxmlformats.org/drawingml/2006/main">
            <a:off x="9576000" y="1692000"/>
            <a:ext cx="9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374151"/>
                </a:solidFill>
              </a:rPr>
              <a:t>18</a:t>
            </a:r>
          </a:p>
        </p:txBody>
      </p:sp>
      <p:sp>
        <p:nvSpPr>
          <p:cNvPr id="100111" name="St1V2"/>
          <p:cNvSpPr txBox="1"/>
          <p:nvPr/>
        </p:nvSpPr>
        <p:spPr>
          <a:xfrm xmlns:a="http://schemas.openxmlformats.org/drawingml/2006/main">
            <a:off x="10512000" y="1692000"/>
            <a:ext cx="108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374151"/>
                </a:solidFill>
              </a:rPr>
              <a:t>1</a:t>
            </a:r>
          </a:p>
        </p:txBody>
      </p:sp>
      <p:sp>
        <p:nvSpPr>
          <p:cNvPr id="100112" name="St2L"/>
          <p:cNvSpPr txBox="1"/>
          <p:nvPr/>
        </p:nvSpPr>
        <p:spPr>
          <a:xfrm xmlns:a="http://schemas.openxmlformats.org/drawingml/2006/main">
            <a:off x="8100000" y="1944000"/>
            <a:ext cx="144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Max</a:t>
            </a:r>
          </a:p>
        </p:txBody>
      </p:sp>
      <p:sp>
        <p:nvSpPr>
          <p:cNvPr id="100113" name="St2V1"/>
          <p:cNvSpPr txBox="1"/>
          <p:nvPr/>
        </p:nvSpPr>
        <p:spPr>
          <a:xfrm xmlns:a="http://schemas.openxmlformats.org/drawingml/2006/main">
            <a:off x="9576000" y="1944000"/>
            <a:ext cx="9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374151"/>
                </a:solidFill>
              </a:rPr>
              <a:t>58</a:t>
            </a:r>
          </a:p>
        </p:txBody>
      </p:sp>
      <p:sp>
        <p:nvSpPr>
          <p:cNvPr id="100114" name="St2V2"/>
          <p:cNvSpPr txBox="1"/>
          <p:nvPr/>
        </p:nvSpPr>
        <p:spPr>
          <a:xfrm xmlns:a="http://schemas.openxmlformats.org/drawingml/2006/main">
            <a:off x="10512000" y="1944000"/>
            <a:ext cx="108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374151"/>
                </a:solidFill>
              </a:rPr>
              <a:t>6</a:t>
            </a:r>
          </a:p>
        </p:txBody>
      </p:sp>
      <p:sp>
        <p:nvSpPr>
          <p:cNvPr id="100115" name="St3L"/>
          <p:cNvSpPr txBox="1"/>
          <p:nvPr/>
        </p:nvSpPr>
        <p:spPr>
          <a:xfrm xmlns:a="http://schemas.openxmlformats.org/drawingml/2006/main">
            <a:off x="8100000" y="2196000"/>
            <a:ext cx="144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Mean</a:t>
            </a:r>
          </a:p>
        </p:txBody>
      </p:sp>
      <p:sp>
        <p:nvSpPr>
          <p:cNvPr id="100116" name="St3V1"/>
          <p:cNvSpPr txBox="1"/>
          <p:nvPr/>
        </p:nvSpPr>
        <p:spPr>
          <a:xfrm xmlns:a="http://schemas.openxmlformats.org/drawingml/2006/main">
            <a:off x="9576000" y="2196000"/>
            <a:ext cx="9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374151"/>
                </a:solidFill>
              </a:rPr>
              <a:t>24.6</a:t>
            </a:r>
          </a:p>
        </p:txBody>
      </p:sp>
      <p:sp>
        <p:nvSpPr>
          <p:cNvPr id="100117" name="St3V2"/>
          <p:cNvSpPr txBox="1"/>
          <p:nvPr/>
        </p:nvSpPr>
        <p:spPr>
          <a:xfrm xmlns:a="http://schemas.openxmlformats.org/drawingml/2006/main">
            <a:off x="10512000" y="2196000"/>
            <a:ext cx="108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374151"/>
                </a:solidFill>
              </a:rPr>
              <a:t>3.4</a:t>
            </a:r>
          </a:p>
        </p:txBody>
      </p:sp>
      <p:sp>
        <p:nvSpPr>
          <p:cNvPr id="100118" name="St4L"/>
          <p:cNvSpPr txBox="1"/>
          <p:nvPr/>
        </p:nvSpPr>
        <p:spPr>
          <a:xfrm xmlns:a="http://schemas.openxmlformats.org/drawingml/2006/main">
            <a:off x="8100000" y="2448000"/>
            <a:ext cx="144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Std Dev</a:t>
            </a:r>
          </a:p>
        </p:txBody>
      </p:sp>
      <p:sp>
        <p:nvSpPr>
          <p:cNvPr id="100119" name="St4V1"/>
          <p:cNvSpPr txBox="1"/>
          <p:nvPr/>
        </p:nvSpPr>
        <p:spPr>
          <a:xfrm xmlns:a="http://schemas.openxmlformats.org/drawingml/2006/main">
            <a:off x="9576000" y="2448000"/>
            <a:ext cx="9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374151"/>
                </a:solidFill>
              </a:rPr>
              <a:t>4.6</a:t>
            </a:r>
          </a:p>
        </p:txBody>
      </p:sp>
      <p:sp>
        <p:nvSpPr>
          <p:cNvPr id="100120" name="St4V2"/>
          <p:cNvSpPr txBox="1"/>
          <p:nvPr/>
        </p:nvSpPr>
        <p:spPr>
          <a:xfrm xmlns:a="http://schemas.openxmlformats.org/drawingml/2006/main">
            <a:off x="10512000" y="2448000"/>
            <a:ext cx="108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374151"/>
                </a:solidFill>
              </a:rPr>
              <a:t>1.5</a:t>
            </a:r>
          </a:p>
        </p:txBody>
      </p:sp>
      <p:sp>
        <p:nvSpPr>
          <p:cNvPr id="100121" name="St5L"/>
          <p:cNvSpPr txBox="1"/>
          <p:nvPr/>
        </p:nvSpPr>
        <p:spPr>
          <a:xfrm xmlns:a="http://schemas.openxmlformats.org/drawingml/2006/main">
            <a:off x="8100000" y="2700000"/>
            <a:ext cx="144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Median</a:t>
            </a:r>
          </a:p>
        </p:txBody>
      </p:sp>
      <p:sp>
        <p:nvSpPr>
          <p:cNvPr id="100122" name="St5V1"/>
          <p:cNvSpPr txBox="1"/>
          <p:nvPr/>
        </p:nvSpPr>
        <p:spPr>
          <a:xfrm xmlns:a="http://schemas.openxmlformats.org/drawingml/2006/main">
            <a:off x="9576000" y="2700000"/>
            <a:ext cx="9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374151"/>
                </a:solidFill>
              </a:rPr>
              <a:t>23</a:t>
            </a:r>
          </a:p>
        </p:txBody>
      </p:sp>
      <p:sp>
        <p:nvSpPr>
          <p:cNvPr id="100123" name="St5V2"/>
          <p:cNvSpPr txBox="1"/>
          <p:nvPr/>
        </p:nvSpPr>
        <p:spPr>
          <a:xfrm xmlns:a="http://schemas.openxmlformats.org/drawingml/2006/main">
            <a:off x="10512000" y="2700000"/>
            <a:ext cx="108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374151"/>
                </a:solidFill>
              </a:rPr>
              <a:t>3</a:t>
            </a:r>
          </a:p>
        </p:txBody>
      </p:sp>
      <p:sp>
        <p:nvSpPr>
          <p:cNvPr id="100124" name="CatNote"/>
          <p:cNvSpPr txBox="1"/>
          <p:nvPr/>
        </p:nvSpPr>
        <p:spPr>
          <a:xfrm xmlns:a="http://schemas.openxmlformats.org/drawingml/2006/main">
            <a:off x="540000" y="4140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Categorical Distributions (% of total)</a:t>
            </a:r>
          </a:p>
        </p:txBody>
      </p:sp>
      <p:sp>
        <p:nvSpPr>
          <p:cNvPr id="100125" name="Cat1"/>
          <p:cNvSpPr txBox="1"/>
          <p:nvPr/>
        </p:nvSpPr>
        <p:spPr>
          <a:xfrm xmlns:a="http://schemas.openxmlformats.org/drawingml/2006/main">
            <a:off x="540000" y="4464000"/>
            <a:ext cx="198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1E40AF"/>
                </a:solidFill>
              </a:rPr>
              <a:t>Gender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1E40AF"/>
                </a:solidFill>
              </a:rPr>
              <a:t>Female: ~57%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1E40AF"/>
                </a:solidFill>
              </a:rPr>
              <a:t>Male: ~43%</a:t>
            </a:r>
          </a:p>
        </p:txBody>
      </p:sp>
      <p:sp>
        <p:nvSpPr>
          <p:cNvPr id="100126" name="Cat2"/>
          <p:cNvSpPr txBox="1"/>
          <p:nvPr/>
        </p:nvSpPr>
        <p:spPr>
          <a:xfrm xmlns:a="http://schemas.openxmlformats.org/drawingml/2006/main">
            <a:off x="2880000" y="4464000"/>
            <a:ext cx="198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065F46"/>
                </a:solidFill>
              </a:rPr>
              <a:t>Occupation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065F46"/>
                </a:solidFill>
              </a:rPr>
              <a:t>Student: ~71%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065F46"/>
                </a:solidFill>
              </a:rPr>
              <a:t>Employee: ~20%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065F46"/>
                </a:solidFill>
              </a:rPr>
              <a:t>Self Emp: ~8%</a:t>
            </a:r>
          </a:p>
        </p:txBody>
      </p:sp>
      <p:sp>
        <p:nvSpPr>
          <p:cNvPr id="100127" name="Cat3"/>
          <p:cNvSpPr txBox="1"/>
          <p:nvPr/>
        </p:nvSpPr>
        <p:spPr>
          <a:xfrm xmlns:a="http://schemas.openxmlformats.org/drawingml/2006/main">
            <a:off x="5220000" y="4464000"/>
            <a:ext cx="198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14532D"/>
                </a:solidFill>
              </a:rPr>
              <a:t>Feedback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14532D"/>
                </a:solidFill>
              </a:rPr>
              <a:t>Positive: ~85%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14532D"/>
                </a:solidFill>
              </a:rPr>
              <a:t>Negative: ~15%</a:t>
            </a:r>
          </a:p>
        </p:txBody>
      </p:sp>
      <p:sp>
        <p:nvSpPr>
          <p:cNvPr id="100128" name="Cat4"/>
          <p:cNvSpPr txBox="1"/>
          <p:nvPr/>
        </p:nvSpPr>
        <p:spPr>
          <a:xfrm xmlns:a="http://schemas.openxmlformats.org/drawingml/2006/main">
            <a:off x="7560000" y="4464000"/>
            <a:ext cx="198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92400E"/>
                </a:solidFill>
              </a:rPr>
              <a:t>Customer Type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92400E"/>
                </a:solidFill>
              </a:rPr>
              <a:t>Regular: ~47%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92400E"/>
                </a:solidFill>
              </a:rPr>
              <a:t>Frequent: ~44%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92400E"/>
                </a:solidFill>
              </a:rPr>
              <a:t>New: ~9%</a:t>
            </a:r>
          </a:p>
        </p:txBody>
      </p:sp>
      <p:sp>
        <p:nvSpPr>
          <p:cNvPr id="100129" name="Cat5"/>
          <p:cNvSpPr txBox="1"/>
          <p:nvPr/>
        </p:nvSpPr>
        <p:spPr>
          <a:xfrm xmlns:a="http://schemas.openxmlformats.org/drawingml/2006/main">
            <a:off x="9900000" y="4464000"/>
            <a:ext cx="1692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581C87"/>
                </a:solidFill>
              </a:rPr>
              <a:t>Output (Online)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581C87"/>
                </a:solidFill>
              </a:rPr>
              <a:t>Yes: ~96%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581C87"/>
                </a:solidFill>
              </a:rPr>
              <a:t>No: ~4%</a:t>
            </a:r>
          </a:p>
        </p:txBody>
      </p:sp>
      <p:sp>
        <p:nvSpPr>
          <p:cNvPr id="100130" name="Foote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 b="0">
                <a:solidFill>
                  <a:srgbClr val="94A3B8"/>
                </a:solidFill>
              </a:rPr>
              <a:t>Online Food Delivery — Data Analytics Project Report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131" name="HeaderBar"/>
          <p:cNvSpPr txBox="1"/>
          <p:nvPr/>
        </p:nvSpPr>
        <p:spPr>
          <a:xfrm xmlns:a="http://schemas.openxmlformats.org/drawingml/2006/main">
            <a:off x="0" y="0"/>
            <a:ext cx="121932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2" name="SlideTitle"/>
          <p:cNvSpPr txBox="1"/>
          <p:nvPr/>
        </p:nvSpPr>
        <p:spPr>
          <a:xfrm xmlns:a="http://schemas.openxmlformats.org/drawingml/2006/main">
            <a:off x="360000" y="72000"/>
            <a:ext cx="90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05  Sales Metric Calculation</a:t>
            </a:r>
          </a:p>
        </p:txBody>
      </p:sp>
      <p:sp>
        <p:nvSpPr>
          <p:cNvPr id="100133" name="Slide#"/>
          <p:cNvSpPr txBox="1"/>
          <p:nvPr/>
        </p:nvSpPr>
        <p:spPr>
          <a:xfrm xmlns:a="http://schemas.openxmlformats.org/drawingml/2006/main">
            <a:off x="10800000" y="108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F97316"/>
                </a:solidFill>
              </a:rPr>
              <a:t>07</a:t>
            </a:r>
          </a:p>
        </p:txBody>
      </p:sp>
      <p:sp>
        <p:nvSpPr>
          <p:cNvPr id="100134" name="FormulaBox"/>
          <p:cNvSpPr txBox="1"/>
          <p:nvPr/>
        </p:nvSpPr>
        <p:spPr>
          <a:xfrm xmlns:a="http://schemas.openxmlformats.org/drawingml/2006/main">
            <a:off x="1080000" y="756000"/>
            <a:ext cx="97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</a:rPr>
              <a:t>Sales Score  =  Gender_Code  ×  Age</a:t>
            </a:r>
          </a:p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</a:rPr>
              <a:t>where:  Male = 1  |  Female = 0</a:t>
            </a:r>
          </a:p>
        </p:txBody>
      </p:sp>
      <p:sp>
        <p:nvSpPr>
          <p:cNvPr id="100135" name="RationaleTitle"/>
          <p:cNvSpPr txBox="1"/>
          <p:nvPr/>
        </p:nvSpPr>
        <p:spPr>
          <a:xfrm xmlns:a="http://schemas.openxmlformats.org/drawingml/2006/main">
            <a:off x="540000" y="1836000"/>
            <a:ext cx="54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E3A5F"/>
                </a:solidFill>
              </a:rPr>
              <a:t>Rationale</a:t>
            </a:r>
          </a:p>
        </p:txBody>
      </p:sp>
      <p:sp>
        <p:nvSpPr>
          <p:cNvPr id="100136" name="RationaleText"/>
          <p:cNvSpPr txBox="1"/>
          <p:nvPr/>
        </p:nvSpPr>
        <p:spPr>
          <a:xfrm xmlns:a="http://schemas.openxmlformats.org/drawingml/2006/main">
            <a:off x="540000" y="2124000"/>
            <a:ext cx="540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The Sales Score acts as a male-specific engagement index proportional to age. Since Female = 0, the score is zero for all female customers — allowing direct comparison of how male customers at different ages drive platform activity. Higher scores indicate older, active male users.</a:t>
            </a:r>
          </a:p>
        </p:txBody>
      </p:sp>
      <p:sp>
        <p:nvSpPr>
          <p:cNvPr id="100137" name="KPITitle"/>
          <p:cNvSpPr txBox="1"/>
          <p:nvPr/>
        </p:nvSpPr>
        <p:spPr>
          <a:xfrm xmlns:a="http://schemas.openxmlformats.org/drawingml/2006/main">
            <a:off x="6480000" y="1836000"/>
            <a:ext cx="504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E3A5F"/>
                </a:solidFill>
              </a:rPr>
              <a:t>Sales Score KPIs (Full Dataset)</a:t>
            </a:r>
          </a:p>
        </p:txBody>
      </p:sp>
      <p:sp>
        <p:nvSpPr>
          <p:cNvPr id="100138" name="KPI1"/>
          <p:cNvSpPr txBox="1"/>
          <p:nvPr/>
        </p:nvSpPr>
        <p:spPr>
          <a:xfrm xmlns:a="http://schemas.openxmlformats.org/drawingml/2006/main">
            <a:off x="6480000" y="2160000"/>
            <a:ext cx="234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FFFFFF"/>
                </a:solidFill>
              </a:rPr>
              <a:t>Total Sales Score</a:t>
            </a:r>
          </a:p>
          <a:p xmlns:a="http://schemas.openxmlformats.org/drawingml/2006/main">
            <a:pPr algn="ctr"/>
            <a:r>
              <a:rPr lang="en-US" sz="1500" b="0">
                <a:solidFill>
                  <a:srgbClr val="FFFFFF"/>
                </a:solidFill>
              </a:rPr>
              <a:t>4,213</a:t>
            </a:r>
          </a:p>
        </p:txBody>
      </p:sp>
      <p:sp>
        <p:nvSpPr>
          <p:cNvPr id="100139" name="KPI2"/>
          <p:cNvSpPr txBox="1"/>
          <p:nvPr/>
        </p:nvSpPr>
        <p:spPr>
          <a:xfrm xmlns:a="http://schemas.openxmlformats.org/drawingml/2006/main">
            <a:off x="9180000" y="2160000"/>
            <a:ext cx="234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FFFFFF"/>
                </a:solidFill>
              </a:rPr>
              <a:t>Avg Sales Score</a:t>
            </a:r>
          </a:p>
          <a:p xmlns:a="http://schemas.openxmlformats.org/drawingml/2006/main">
            <a:pPr algn="ctr"/>
            <a:r>
              <a:rPr lang="en-US" sz="1500" b="0">
                <a:solidFill>
                  <a:srgbClr val="FFFFFF"/>
                </a:solidFill>
              </a:rPr>
              <a:t>10.86</a:t>
            </a:r>
          </a:p>
        </p:txBody>
      </p:sp>
      <p:sp>
        <p:nvSpPr>
          <p:cNvPr id="100140" name="KPI3"/>
          <p:cNvSpPr txBox="1"/>
          <p:nvPr/>
        </p:nvSpPr>
        <p:spPr>
          <a:xfrm xmlns:a="http://schemas.openxmlformats.org/drawingml/2006/main">
            <a:off x="6480000" y="3168000"/>
            <a:ext cx="234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FFFFFF"/>
                </a:solidFill>
              </a:rPr>
              <a:t>Max Sales Score</a:t>
            </a:r>
          </a:p>
          <a:p xmlns:a="http://schemas.openxmlformats.org/drawingml/2006/main">
            <a:pPr algn="ctr"/>
            <a:r>
              <a:rPr lang="en-US" sz="1500" b="0">
                <a:solidFill>
                  <a:srgbClr val="FFFFFF"/>
                </a:solidFill>
              </a:rPr>
              <a:t>58</a:t>
            </a:r>
          </a:p>
        </p:txBody>
      </p:sp>
      <p:sp>
        <p:nvSpPr>
          <p:cNvPr id="100141" name="KPI4"/>
          <p:cNvSpPr txBox="1"/>
          <p:nvPr/>
        </p:nvSpPr>
        <p:spPr>
          <a:xfrm xmlns:a="http://schemas.openxmlformats.org/drawingml/2006/main">
            <a:off x="9180000" y="3168000"/>
            <a:ext cx="234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FFFFFF"/>
                </a:solidFill>
              </a:rPr>
              <a:t>Male Contribution</a:t>
            </a:r>
          </a:p>
          <a:p xmlns:a="http://schemas.openxmlformats.org/drawingml/2006/main">
            <a:pPr algn="ctr"/>
            <a:r>
              <a:rPr lang="en-US" sz="1500" b="0">
                <a:solidFill>
                  <a:srgbClr val="FFFFFF"/>
                </a:solidFill>
              </a:rPr>
              <a:t>~100%</a:t>
            </a:r>
          </a:p>
        </p:txBody>
      </p:sp>
      <p:sp>
        <p:nvSpPr>
          <p:cNvPr id="100142" name="GenderTableTitle"/>
          <p:cNvSpPr txBox="1"/>
          <p:nvPr/>
        </p:nvSpPr>
        <p:spPr>
          <a:xfrm xmlns:a="http://schemas.openxmlformats.org/drawingml/2006/main">
            <a:off x="540000" y="3528000"/>
            <a:ext cx="504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E3A5F"/>
                </a:solidFill>
              </a:rPr>
              <a:t>Sales Score by Gender</a:t>
            </a:r>
          </a:p>
        </p:txBody>
      </p:sp>
      <p:sp>
        <p:nvSpPr>
          <p:cNvPr id="100143" name="GTH"/>
          <p:cNvSpPr txBox="1"/>
          <p:nvPr/>
        </p:nvSpPr>
        <p:spPr>
          <a:xfrm xmlns:a="http://schemas.openxmlformats.org/drawingml/2006/main">
            <a:off x="540000" y="3816000"/>
            <a:ext cx="50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Gender       |   Count   |   Total Sales   |   Avg Sales</a:t>
            </a:r>
          </a:p>
        </p:txBody>
      </p:sp>
      <p:sp>
        <p:nvSpPr>
          <p:cNvPr id="100144" name="GT1"/>
          <p:cNvSpPr txBox="1"/>
          <p:nvPr/>
        </p:nvSpPr>
        <p:spPr>
          <a:xfrm xmlns:a="http://schemas.openxmlformats.org/drawingml/2006/main">
            <a:off x="540000" y="4086000"/>
            <a:ext cx="504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Female         |    219     |         0              |      0.00</a:t>
            </a:r>
          </a:p>
        </p:txBody>
      </p:sp>
      <p:sp>
        <p:nvSpPr>
          <p:cNvPr id="100145" name="GT2"/>
          <p:cNvSpPr txBox="1"/>
          <p:nvPr/>
        </p:nvSpPr>
        <p:spPr>
          <a:xfrm xmlns:a="http://schemas.openxmlformats.org/drawingml/2006/main">
            <a:off x="540000" y="4338000"/>
            <a:ext cx="504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Male            |    169     |     4,213          |     24.93</a:t>
            </a:r>
          </a:p>
        </p:txBody>
      </p:sp>
      <p:sp>
        <p:nvSpPr>
          <p:cNvPr id="100146" name="AgeTableTitle"/>
          <p:cNvSpPr txBox="1"/>
          <p:nvPr/>
        </p:nvSpPr>
        <p:spPr>
          <a:xfrm xmlns:a="http://schemas.openxmlformats.org/drawingml/2006/main">
            <a:off x="540000" y="4680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E3A5F"/>
                </a:solidFill>
              </a:rPr>
              <a:t>Sales Score by Age Group (Male customers only)</a:t>
            </a:r>
          </a:p>
        </p:txBody>
      </p:sp>
      <p:sp>
        <p:nvSpPr>
          <p:cNvPr id="100147" name="ATH"/>
          <p:cNvSpPr txBox="1"/>
          <p:nvPr/>
        </p:nvSpPr>
        <p:spPr>
          <a:xfrm xmlns:a="http://schemas.openxmlformats.org/drawingml/2006/main">
            <a:off x="540000" y="4968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Age Group    |   Count   |   Total Sales   |   Avg Sales</a:t>
            </a:r>
          </a:p>
        </p:txBody>
      </p:sp>
      <p:sp>
        <p:nvSpPr>
          <p:cNvPr id="100148" name="AT1"/>
          <p:cNvSpPr txBox="1"/>
          <p:nvPr/>
        </p:nvSpPr>
        <p:spPr>
          <a:xfrm xmlns:a="http://schemas.openxmlformats.org/drawingml/2006/main">
            <a:off x="540000" y="5238000"/>
            <a:ext cx="108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18 – 22            |     92       |       1,862          |     20.24</a:t>
            </a:r>
          </a:p>
        </p:txBody>
      </p:sp>
      <p:sp>
        <p:nvSpPr>
          <p:cNvPr id="100149" name="AT2"/>
          <p:cNvSpPr txBox="1"/>
          <p:nvPr/>
        </p:nvSpPr>
        <p:spPr>
          <a:xfrm xmlns:a="http://schemas.openxmlformats.org/drawingml/2006/main">
            <a:off x="540000" y="5472000"/>
            <a:ext cx="108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23 – 26            |     61       |       1,501          |     24.60</a:t>
            </a:r>
          </a:p>
        </p:txBody>
      </p:sp>
      <p:sp>
        <p:nvSpPr>
          <p:cNvPr id="100150" name="AT3"/>
          <p:cNvSpPr txBox="1"/>
          <p:nvPr/>
        </p:nvSpPr>
        <p:spPr>
          <a:xfrm xmlns:a="http://schemas.openxmlformats.org/drawingml/2006/main">
            <a:off x="540000" y="5706000"/>
            <a:ext cx="108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27 – 30            |      9        |         257           |     28.56</a:t>
            </a:r>
          </a:p>
        </p:txBody>
      </p:sp>
      <p:sp>
        <p:nvSpPr>
          <p:cNvPr id="100151" name="AT4"/>
          <p:cNvSpPr txBox="1"/>
          <p:nvPr/>
        </p:nvSpPr>
        <p:spPr>
          <a:xfrm xmlns:a="http://schemas.openxmlformats.org/drawingml/2006/main">
            <a:off x="540000" y="5940000"/>
            <a:ext cx="108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31 – 40            |      5        |         169           |     33.80</a:t>
            </a:r>
          </a:p>
        </p:txBody>
      </p:sp>
      <p:sp>
        <p:nvSpPr>
          <p:cNvPr id="100152" name="AT5"/>
          <p:cNvSpPr txBox="1"/>
          <p:nvPr/>
        </p:nvSpPr>
        <p:spPr>
          <a:xfrm xmlns:a="http://schemas.openxmlformats.org/drawingml/2006/main">
            <a:off x="540000" y="6174000"/>
            <a:ext cx="108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41+                   |      2        |          91            |     45.50</a:t>
            </a:r>
          </a:p>
        </p:txBody>
      </p:sp>
      <p:sp>
        <p:nvSpPr>
          <p:cNvPr id="100153" name="Foote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 b="0">
                <a:solidFill>
                  <a:srgbClr val="94A3B8"/>
                </a:solidFill>
              </a:rPr>
              <a:t>Online Food Delivery — Data Analytics Project Report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154" name="HeaderBar"/>
          <p:cNvSpPr txBox="1"/>
          <p:nvPr/>
        </p:nvSpPr>
        <p:spPr>
          <a:xfrm xmlns:a="http://schemas.openxmlformats.org/drawingml/2006/main">
            <a:off x="0" y="0"/>
            <a:ext cx="121932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5" name="SlideTitle"/>
          <p:cNvSpPr txBox="1"/>
          <p:nvPr/>
        </p:nvSpPr>
        <p:spPr>
          <a:xfrm xmlns:a="http://schemas.openxmlformats.org/drawingml/2006/main">
            <a:off x="360000" y="72000"/>
            <a:ext cx="90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06  Group &amp; Summary Statistics</a:t>
            </a:r>
          </a:p>
        </p:txBody>
      </p:sp>
      <p:sp>
        <p:nvSpPr>
          <p:cNvPr id="100156" name="Slide#"/>
          <p:cNvSpPr txBox="1"/>
          <p:nvPr/>
        </p:nvSpPr>
        <p:spPr>
          <a:xfrm xmlns:a="http://schemas.openxmlformats.org/drawingml/2006/main">
            <a:off x="10800000" y="108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F97316"/>
                </a:solidFill>
              </a:rPr>
              <a:t>08</a:t>
            </a:r>
          </a:p>
        </p:txBody>
      </p:sp>
      <p:sp>
        <p:nvSpPr>
          <p:cNvPr id="100157" name="KPITitle"/>
          <p:cNvSpPr txBox="1"/>
          <p:nvPr/>
        </p:nvSpPr>
        <p:spPr>
          <a:xfrm xmlns:a="http://schemas.openxmlformats.org/drawingml/2006/main">
            <a:off x="540000" y="720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3A5F"/>
                </a:solidFill>
              </a:rPr>
              <a:t>Overall KPIs</a:t>
            </a:r>
          </a:p>
        </p:txBody>
      </p:sp>
      <p:sp>
        <p:nvSpPr>
          <p:cNvPr id="100158" name="K1"/>
          <p:cNvSpPr txBox="1"/>
          <p:nvPr/>
        </p:nvSpPr>
        <p:spPr>
          <a:xfrm xmlns:a="http://schemas.openxmlformats.org/drawingml/2006/main">
            <a:off x="540000" y="1080000"/>
            <a:ext cx="1872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FFFFFF"/>
                </a:solidFill>
              </a:rPr>
              <a:t>Total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FFFFFF"/>
                </a:solidFill>
              </a:rPr>
              <a:t>Customers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FFFFFF"/>
                </a:solidFill>
              </a:rPr>
              <a:t>388</a:t>
            </a:r>
          </a:p>
        </p:txBody>
      </p:sp>
      <p:sp>
        <p:nvSpPr>
          <p:cNvPr id="100159" name="K2"/>
          <p:cNvSpPr txBox="1"/>
          <p:nvPr/>
        </p:nvSpPr>
        <p:spPr>
          <a:xfrm xmlns:a="http://schemas.openxmlformats.org/drawingml/2006/main">
            <a:off x="2772000" y="1080000"/>
            <a:ext cx="1872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FFFFFF"/>
                </a:solidFill>
              </a:rPr>
              <a:t>Avg Age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FFFFFF"/>
                </a:solidFill>
              </a:rPr>
              <a:t>24.6 years</a:t>
            </a:r>
          </a:p>
        </p:txBody>
      </p:sp>
      <p:sp>
        <p:nvSpPr>
          <p:cNvPr id="100160" name="K3"/>
          <p:cNvSpPr txBox="1"/>
          <p:nvPr/>
        </p:nvSpPr>
        <p:spPr>
          <a:xfrm xmlns:a="http://schemas.openxmlformats.org/drawingml/2006/main">
            <a:off x="5004000" y="1080000"/>
            <a:ext cx="1872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FFFFFF"/>
                </a:solidFill>
              </a:rPr>
              <a:t>Online Order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FFFFFF"/>
                </a:solidFill>
              </a:rPr>
              <a:t>Rate: ~96%</a:t>
            </a:r>
          </a:p>
        </p:txBody>
      </p:sp>
      <p:sp>
        <p:nvSpPr>
          <p:cNvPr id="100161" name="K4"/>
          <p:cNvSpPr txBox="1"/>
          <p:nvPr/>
        </p:nvSpPr>
        <p:spPr>
          <a:xfrm xmlns:a="http://schemas.openxmlformats.org/drawingml/2006/main">
            <a:off x="7236000" y="1080000"/>
            <a:ext cx="1872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FFFFFF"/>
                </a:solidFill>
              </a:rPr>
              <a:t>Positive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FFFFFF"/>
                </a:solidFill>
              </a:rPr>
              <a:t>Feedback: ~85%</a:t>
            </a:r>
          </a:p>
        </p:txBody>
      </p:sp>
      <p:sp>
        <p:nvSpPr>
          <p:cNvPr id="100162" name="K5"/>
          <p:cNvSpPr txBox="1"/>
          <p:nvPr/>
        </p:nvSpPr>
        <p:spPr>
          <a:xfrm xmlns:a="http://schemas.openxmlformats.org/drawingml/2006/main">
            <a:off x="9468000" y="1080000"/>
            <a:ext cx="2088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FFFFFF"/>
                </a:solidFill>
              </a:rPr>
              <a:t>Avg Family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FFFFFF"/>
                </a:solidFill>
              </a:rPr>
              <a:t>Size: 3.4</a:t>
            </a:r>
          </a:p>
        </p:txBody>
      </p:sp>
      <p:sp>
        <p:nvSpPr>
          <p:cNvPr id="100163" name="GenderTitle"/>
          <p:cNvSpPr txBox="1"/>
          <p:nvPr/>
        </p:nvSpPr>
        <p:spPr>
          <a:xfrm xmlns:a="http://schemas.openxmlformats.org/drawingml/2006/main">
            <a:off x="540000" y="1980000"/>
            <a:ext cx="54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By Gender</a:t>
            </a:r>
          </a:p>
        </p:txBody>
      </p:sp>
      <p:sp>
        <p:nvSpPr>
          <p:cNvPr id="100164" name="GH"/>
          <p:cNvSpPr txBox="1"/>
          <p:nvPr/>
        </p:nvSpPr>
        <p:spPr>
          <a:xfrm xmlns:a="http://schemas.openxmlformats.org/drawingml/2006/main">
            <a:off x="540000" y="2268000"/>
            <a:ext cx="540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Gender   | Count  | Avg Age | Avg Inc. | Online % | +ve Fbk %</a:t>
            </a:r>
          </a:p>
        </p:txBody>
      </p:sp>
      <p:sp>
        <p:nvSpPr>
          <p:cNvPr id="100165" name="GR1"/>
          <p:cNvSpPr txBox="1"/>
          <p:nvPr/>
        </p:nvSpPr>
        <p:spPr>
          <a:xfrm xmlns:a="http://schemas.openxmlformats.org/drawingml/2006/main">
            <a:off x="540000" y="2520000"/>
            <a:ext cx="54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74151"/>
                </a:solidFill>
              </a:rPr>
              <a:t>Female    |   219   |   24.5   |  7,420   |   95.9%   |   83.6%</a:t>
            </a:r>
          </a:p>
        </p:txBody>
      </p:sp>
      <p:sp>
        <p:nvSpPr>
          <p:cNvPr id="100166" name="GR2"/>
          <p:cNvSpPr txBox="1"/>
          <p:nvPr/>
        </p:nvSpPr>
        <p:spPr>
          <a:xfrm xmlns:a="http://schemas.openxmlformats.org/drawingml/2006/main">
            <a:off x="540000" y="2754000"/>
            <a:ext cx="54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74151"/>
                </a:solidFill>
              </a:rPr>
              <a:t>Male       |   169   |   24.7   |  5,680   |   96.4%   |   86.4%</a:t>
            </a:r>
          </a:p>
        </p:txBody>
      </p:sp>
      <p:sp>
        <p:nvSpPr>
          <p:cNvPr id="100167" name="OccTitle"/>
          <p:cNvSpPr txBox="1"/>
          <p:nvPr/>
        </p:nvSpPr>
        <p:spPr>
          <a:xfrm xmlns:a="http://schemas.openxmlformats.org/drawingml/2006/main">
            <a:off x="6120000" y="1980000"/>
            <a:ext cx="54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By Occupation</a:t>
            </a:r>
          </a:p>
        </p:txBody>
      </p:sp>
      <p:sp>
        <p:nvSpPr>
          <p:cNvPr id="100168" name="OH"/>
          <p:cNvSpPr txBox="1"/>
          <p:nvPr/>
        </p:nvSpPr>
        <p:spPr>
          <a:xfrm xmlns:a="http://schemas.openxmlformats.org/drawingml/2006/main">
            <a:off x="6120000" y="2268000"/>
            <a:ext cx="540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Occupation       | Count  | Avg Age | Online %</a:t>
            </a:r>
          </a:p>
        </p:txBody>
      </p:sp>
      <p:sp>
        <p:nvSpPr>
          <p:cNvPr id="100169" name="OR1"/>
          <p:cNvSpPr txBox="1"/>
          <p:nvPr/>
        </p:nvSpPr>
        <p:spPr>
          <a:xfrm xmlns:a="http://schemas.openxmlformats.org/drawingml/2006/main">
            <a:off x="6120000" y="2520000"/>
            <a:ext cx="54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74151"/>
                </a:solidFill>
              </a:rPr>
              <a:t>Student                |   277   |   22.9   |   97.5%</a:t>
            </a:r>
          </a:p>
        </p:txBody>
      </p:sp>
      <p:sp>
        <p:nvSpPr>
          <p:cNvPr id="100170" name="OR2"/>
          <p:cNvSpPr txBox="1"/>
          <p:nvPr/>
        </p:nvSpPr>
        <p:spPr>
          <a:xfrm xmlns:a="http://schemas.openxmlformats.org/drawingml/2006/main">
            <a:off x="6120000" y="2754000"/>
            <a:ext cx="54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74151"/>
                </a:solidFill>
              </a:rPr>
              <a:t>Employee            |     77   |   26.5   |   93.5%</a:t>
            </a:r>
          </a:p>
        </p:txBody>
      </p:sp>
      <p:sp>
        <p:nvSpPr>
          <p:cNvPr id="100171" name="OR3"/>
          <p:cNvSpPr txBox="1"/>
          <p:nvPr/>
        </p:nvSpPr>
        <p:spPr>
          <a:xfrm xmlns:a="http://schemas.openxmlformats.org/drawingml/2006/main">
            <a:off x="6120000" y="2988000"/>
            <a:ext cx="54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74151"/>
                </a:solidFill>
              </a:rPr>
              <a:t>Self Employed    |     29   |   27.8   |   93.1%</a:t>
            </a:r>
          </a:p>
        </p:txBody>
      </p:sp>
      <p:sp>
        <p:nvSpPr>
          <p:cNvPr id="100172" name="OR4"/>
          <p:cNvSpPr txBox="1"/>
          <p:nvPr/>
        </p:nvSpPr>
        <p:spPr>
          <a:xfrm xmlns:a="http://schemas.openxmlformats.org/drawingml/2006/main">
            <a:off x="6120000" y="3222000"/>
            <a:ext cx="54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74151"/>
                </a:solidFill>
              </a:rPr>
              <a:t>House wife         |      5    |   30.2   |   80.0%</a:t>
            </a:r>
          </a:p>
        </p:txBody>
      </p:sp>
      <p:sp>
        <p:nvSpPr>
          <p:cNvPr id="100173" name="IncTitle"/>
          <p:cNvSpPr txBox="1"/>
          <p:nvPr/>
        </p:nvSpPr>
        <p:spPr>
          <a:xfrm xmlns:a="http://schemas.openxmlformats.org/drawingml/2006/main">
            <a:off x="540000" y="3168000"/>
            <a:ext cx="54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By Monthly Income</a:t>
            </a:r>
          </a:p>
        </p:txBody>
      </p:sp>
      <p:sp>
        <p:nvSpPr>
          <p:cNvPr id="100174" name="IH"/>
          <p:cNvSpPr txBox="1"/>
          <p:nvPr/>
        </p:nvSpPr>
        <p:spPr>
          <a:xfrm xmlns:a="http://schemas.openxmlformats.org/drawingml/2006/main">
            <a:off x="540000" y="3456000"/>
            <a:ext cx="540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Income Bracket         | Count  | Avg Age | Online %</a:t>
            </a:r>
          </a:p>
        </p:txBody>
      </p:sp>
      <p:sp>
        <p:nvSpPr>
          <p:cNvPr id="100175" name="IR1"/>
          <p:cNvSpPr txBox="1"/>
          <p:nvPr/>
        </p:nvSpPr>
        <p:spPr>
          <a:xfrm xmlns:a="http://schemas.openxmlformats.org/drawingml/2006/main">
            <a:off x="540000" y="3708000"/>
            <a:ext cx="54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74151"/>
                </a:solidFill>
              </a:rPr>
              <a:t>No Income                    |   185   |   22.8   |   97.3%</a:t>
            </a:r>
          </a:p>
        </p:txBody>
      </p:sp>
      <p:sp>
        <p:nvSpPr>
          <p:cNvPr id="100176" name="IR2"/>
          <p:cNvSpPr txBox="1"/>
          <p:nvPr/>
        </p:nvSpPr>
        <p:spPr>
          <a:xfrm xmlns:a="http://schemas.openxmlformats.org/drawingml/2006/main">
            <a:off x="540000" y="3942000"/>
            <a:ext cx="54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74151"/>
                </a:solidFill>
              </a:rPr>
              <a:t>Below Rs.10,000           |     61   |   22.5   |   100%</a:t>
            </a:r>
          </a:p>
        </p:txBody>
      </p:sp>
      <p:sp>
        <p:nvSpPr>
          <p:cNvPr id="100177" name="IR3"/>
          <p:cNvSpPr txBox="1"/>
          <p:nvPr/>
        </p:nvSpPr>
        <p:spPr>
          <a:xfrm xmlns:a="http://schemas.openxmlformats.org/drawingml/2006/main">
            <a:off x="540000" y="4176000"/>
            <a:ext cx="54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74151"/>
                </a:solidFill>
              </a:rPr>
              <a:t>Rs.10,001 – 25,000       |     53   |   24.8   |   90.6%</a:t>
            </a:r>
          </a:p>
        </p:txBody>
      </p:sp>
      <p:sp>
        <p:nvSpPr>
          <p:cNvPr id="100178" name="IR4"/>
          <p:cNvSpPr txBox="1"/>
          <p:nvPr/>
        </p:nvSpPr>
        <p:spPr>
          <a:xfrm xmlns:a="http://schemas.openxmlformats.org/drawingml/2006/main">
            <a:off x="540000" y="4410000"/>
            <a:ext cx="54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74151"/>
                </a:solidFill>
              </a:rPr>
              <a:t>Rs.25,001 – 50,000       |     28   |   27.9   |   89.3%</a:t>
            </a:r>
          </a:p>
        </p:txBody>
      </p:sp>
      <p:sp>
        <p:nvSpPr>
          <p:cNvPr id="100179" name="IR5"/>
          <p:cNvSpPr txBox="1"/>
          <p:nvPr/>
        </p:nvSpPr>
        <p:spPr>
          <a:xfrm xmlns:a="http://schemas.openxmlformats.org/drawingml/2006/main">
            <a:off x="540000" y="4644000"/>
            <a:ext cx="54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74151"/>
                </a:solidFill>
              </a:rPr>
              <a:t>More than Rs.50,000    |     61   |   30.2   |   96.7%</a:t>
            </a:r>
          </a:p>
        </p:txBody>
      </p:sp>
      <p:sp>
        <p:nvSpPr>
          <p:cNvPr id="100180" name="CTTitle"/>
          <p:cNvSpPr txBox="1"/>
          <p:nvPr/>
        </p:nvSpPr>
        <p:spPr>
          <a:xfrm xmlns:a="http://schemas.openxmlformats.org/drawingml/2006/main">
            <a:off x="6120000" y="3672000"/>
            <a:ext cx="54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By Customer Type</a:t>
            </a:r>
          </a:p>
        </p:txBody>
      </p:sp>
      <p:sp>
        <p:nvSpPr>
          <p:cNvPr id="100181" name="CTH"/>
          <p:cNvSpPr txBox="1"/>
          <p:nvPr/>
        </p:nvSpPr>
        <p:spPr>
          <a:xfrm xmlns:a="http://schemas.openxmlformats.org/drawingml/2006/main">
            <a:off x="6120000" y="3960000"/>
            <a:ext cx="540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Customer Type  | Count  | Avg Age | +ve Fbk %</a:t>
            </a:r>
          </a:p>
        </p:txBody>
      </p:sp>
      <p:sp>
        <p:nvSpPr>
          <p:cNvPr id="100182" name="CTR1"/>
          <p:cNvSpPr txBox="1"/>
          <p:nvPr/>
        </p:nvSpPr>
        <p:spPr>
          <a:xfrm xmlns:a="http://schemas.openxmlformats.org/drawingml/2006/main">
            <a:off x="6120000" y="4212000"/>
            <a:ext cx="54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74151"/>
                </a:solidFill>
              </a:rPr>
              <a:t>Regular               |   182   |   23.8   |    82.4%</a:t>
            </a:r>
          </a:p>
        </p:txBody>
      </p:sp>
      <p:sp>
        <p:nvSpPr>
          <p:cNvPr id="100183" name="CTR2"/>
          <p:cNvSpPr txBox="1"/>
          <p:nvPr/>
        </p:nvSpPr>
        <p:spPr>
          <a:xfrm xmlns:a="http://schemas.openxmlformats.org/drawingml/2006/main">
            <a:off x="6120000" y="4446000"/>
            <a:ext cx="54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74151"/>
                </a:solidFill>
              </a:rPr>
              <a:t>Frequent             |   171   |   23.3   |    88.3%</a:t>
            </a:r>
          </a:p>
        </p:txBody>
      </p:sp>
      <p:sp>
        <p:nvSpPr>
          <p:cNvPr id="100184" name="CTR3"/>
          <p:cNvSpPr txBox="1"/>
          <p:nvPr/>
        </p:nvSpPr>
        <p:spPr>
          <a:xfrm xmlns:a="http://schemas.openxmlformats.org/drawingml/2006/main">
            <a:off x="6120000" y="4680000"/>
            <a:ext cx="54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74151"/>
                </a:solidFill>
              </a:rPr>
              <a:t>New                     |     35   |   22.1   |    85.7%</a:t>
            </a:r>
          </a:p>
        </p:txBody>
      </p:sp>
      <p:sp>
        <p:nvSpPr>
          <p:cNvPr id="100185" name="InsightBar"/>
          <p:cNvSpPr txBox="1"/>
          <p:nvPr/>
        </p:nvSpPr>
        <p:spPr>
          <a:xfrm xmlns:a="http://schemas.openxmlformats.org/drawingml/2006/main">
            <a:off x="540000" y="5040000"/>
            <a:ext cx="108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3A5F"/>
                </a:solidFill>
              </a:rPr>
              <a:t>Key Insight: Students &amp; No-Income customers show the highest online ordering rate (97–100%), indicating price-sensitive digital-native users as the core base.</a:t>
            </a:r>
          </a:p>
        </p:txBody>
      </p:sp>
      <p:sp>
        <p:nvSpPr>
          <p:cNvPr id="100186" name="Foote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 b="0">
                <a:solidFill>
                  <a:srgbClr val="94A3B8"/>
                </a:solidFill>
              </a:rPr>
              <a:t>Online Food Delivery — Data Analytics Project Report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187" name="HeaderBar"/>
          <p:cNvSpPr txBox="1"/>
          <p:nvPr/>
        </p:nvSpPr>
        <p:spPr>
          <a:xfrm xmlns:a="http://schemas.openxmlformats.org/drawingml/2006/main">
            <a:off x="0" y="0"/>
            <a:ext cx="121932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8" name="SlideTitle"/>
          <p:cNvSpPr txBox="1"/>
          <p:nvPr/>
        </p:nvSpPr>
        <p:spPr>
          <a:xfrm xmlns:a="http://schemas.openxmlformats.org/drawingml/2006/main">
            <a:off x="360000" y="72000"/>
            <a:ext cx="90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07  Data Visualisation — Charts</a:t>
            </a:r>
          </a:p>
        </p:txBody>
      </p:sp>
      <p:sp>
        <p:nvSpPr>
          <p:cNvPr id="100189" name="Slide#"/>
          <p:cNvSpPr txBox="1"/>
          <p:nvPr/>
        </p:nvSpPr>
        <p:spPr>
          <a:xfrm xmlns:a="http://schemas.openxmlformats.org/drawingml/2006/main">
            <a:off x="10800000" y="108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F97316"/>
                </a:solidFill>
              </a:rPr>
              <a:t>09</a:t>
            </a:r>
          </a:p>
        </p:txBody>
      </p:sp>
      <p:sp>
        <p:nvSpPr>
          <p:cNvPr id="100190" name="SubHead"/>
          <p:cNvSpPr txBox="1"/>
          <p:nvPr/>
        </p:nvSpPr>
        <p:spPr>
          <a:xfrm xmlns:a="http://schemas.openxmlformats.org/drawingml/2006/main">
            <a:off x="360000" y="648000"/>
            <a:ext cx="1152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6B7280"/>
                </a:solidFill>
              </a:rPr>
              <a:t>9 chart types rendered in the Streamlit dashboard — all reactive to sidebar filters</a:t>
            </a:r>
          </a:p>
        </p:txBody>
      </p:sp>
      <p:sp>
        <p:nvSpPr>
          <p:cNvPr id="100191" name="C1Box"/>
          <p:cNvSpPr txBox="1"/>
          <p:nvPr/>
        </p:nvSpPr>
        <p:spPr>
          <a:xfrm xmlns:a="http://schemas.openxmlformats.org/drawingml/2006/main">
            <a:off x="540000" y="1008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40AF"/>
                </a:solidFill>
              </a:rPr>
              <a:t>Chart 1</a:t>
            </a:r>
          </a:p>
          <a:p xmlns:a="http://schemas.openxmlformats.org/drawingml/2006/main">
            <a:r>
              <a:rPr lang="en-US" sz="1300" b="0">
                <a:solidFill>
                  <a:srgbClr val="1E40AF"/>
                </a:solidFill>
              </a:rPr>
              <a:t>Gender Distribution</a:t>
            </a:r>
          </a:p>
          <a:p xmlns:a="http://schemas.openxmlformats.org/drawingml/2006/main">
            <a:r>
              <a:rPr lang="en-US" sz="1300" b="0">
                <a:solidFill>
                  <a:srgbClr val="1E40AF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E40AF"/>
                </a:solidFill>
              </a:rPr>
              <a:t>Pie chart — Female 57% vs Male 43%</a:t>
            </a:r>
          </a:p>
        </p:txBody>
      </p:sp>
      <p:sp>
        <p:nvSpPr>
          <p:cNvPr id="100192" name="C2Box"/>
          <p:cNvSpPr txBox="1"/>
          <p:nvPr/>
        </p:nvSpPr>
        <p:spPr>
          <a:xfrm xmlns:a="http://schemas.openxmlformats.org/drawingml/2006/main">
            <a:off x="4320000" y="1008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65F46"/>
                </a:solidFill>
              </a:rPr>
              <a:t>Chart 2</a:t>
            </a:r>
          </a:p>
          <a:p xmlns:a="http://schemas.openxmlformats.org/drawingml/2006/main">
            <a:r>
              <a:rPr lang="en-US" sz="1300" b="0">
                <a:solidFill>
                  <a:srgbClr val="065F46"/>
                </a:solidFill>
              </a:rPr>
              <a:t>Age Distribution</a:t>
            </a:r>
          </a:p>
          <a:p xmlns:a="http://schemas.openxmlformats.org/drawingml/2006/main">
            <a:r>
              <a:rPr lang="en-US" sz="1300" b="0">
                <a:solidFill>
                  <a:srgbClr val="065F46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065F46"/>
                </a:solidFill>
              </a:rPr>
              <a:t>Histogram — Peak at age 22–25 (student cohort)</a:t>
            </a:r>
          </a:p>
        </p:txBody>
      </p:sp>
      <p:sp>
        <p:nvSpPr>
          <p:cNvPr id="100193" name="C3Box"/>
          <p:cNvSpPr txBox="1"/>
          <p:nvPr/>
        </p:nvSpPr>
        <p:spPr>
          <a:xfrm xmlns:a="http://schemas.openxmlformats.org/drawingml/2006/main">
            <a:off x="8100000" y="1008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92400E"/>
                </a:solidFill>
              </a:rPr>
              <a:t>Chart 3</a:t>
            </a:r>
          </a:p>
          <a:p xmlns:a="http://schemas.openxmlformats.org/drawingml/2006/main">
            <a:r>
              <a:rPr lang="en-US" sz="1300" b="0">
                <a:solidFill>
                  <a:srgbClr val="92400E"/>
                </a:solidFill>
              </a:rPr>
              <a:t>Online Ordering by Occupation</a:t>
            </a:r>
          </a:p>
          <a:p xmlns:a="http://schemas.openxmlformats.org/drawingml/2006/main">
            <a:r>
              <a:rPr lang="en-US" sz="1300" b="0">
                <a:solidFill>
                  <a:srgbClr val="92400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92400E"/>
                </a:solidFill>
              </a:rPr>
              <a:t>Horizontal bar — Students lead at 97.5%</a:t>
            </a:r>
          </a:p>
        </p:txBody>
      </p:sp>
      <p:sp>
        <p:nvSpPr>
          <p:cNvPr id="100194" name="C4Box"/>
          <p:cNvSpPr txBox="1"/>
          <p:nvPr/>
        </p:nvSpPr>
        <p:spPr>
          <a:xfrm xmlns:a="http://schemas.openxmlformats.org/drawingml/2006/main">
            <a:off x="540000" y="2340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581C87"/>
                </a:solidFill>
              </a:rPr>
              <a:t>Chart 4</a:t>
            </a:r>
          </a:p>
          <a:p xmlns:a="http://schemas.openxmlformats.org/drawingml/2006/main">
            <a:r>
              <a:rPr lang="en-US" sz="1300" b="0">
                <a:solidFill>
                  <a:srgbClr val="581C87"/>
                </a:solidFill>
              </a:rPr>
              <a:t>Feedback by Gender</a:t>
            </a:r>
          </a:p>
          <a:p xmlns:a="http://schemas.openxmlformats.org/drawingml/2006/main">
            <a:r>
              <a:rPr lang="en-US" sz="1300" b="0">
                <a:solidFill>
                  <a:srgbClr val="581C87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581C87"/>
                </a:solidFill>
              </a:rPr>
              <a:t>Grouped bar — Both genders &gt;80% positive</a:t>
            </a:r>
          </a:p>
        </p:txBody>
      </p:sp>
      <p:sp>
        <p:nvSpPr>
          <p:cNvPr id="100195" name="C5Box"/>
          <p:cNvSpPr txBox="1"/>
          <p:nvPr/>
        </p:nvSpPr>
        <p:spPr>
          <a:xfrm xmlns:a="http://schemas.openxmlformats.org/drawingml/2006/main">
            <a:off x="4320000" y="2340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64E63"/>
                </a:solidFill>
              </a:rPr>
              <a:t>Chart 5</a:t>
            </a:r>
          </a:p>
          <a:p xmlns:a="http://schemas.openxmlformats.org/drawingml/2006/main">
            <a:r>
              <a:rPr lang="en-US" sz="1300" b="0">
                <a:solidFill>
                  <a:srgbClr val="164E63"/>
                </a:solidFill>
              </a:rPr>
              <a:t>Sales Score by Age Group</a:t>
            </a:r>
          </a:p>
          <a:p xmlns:a="http://schemas.openxmlformats.org/drawingml/2006/main">
            <a:r>
              <a:rPr lang="en-US" sz="1300" b="0">
                <a:solidFill>
                  <a:srgbClr val="164E63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64E63"/>
                </a:solidFill>
              </a:rPr>
              <a:t>Bar chart — 18–22 group has highest total score</a:t>
            </a:r>
          </a:p>
        </p:txBody>
      </p:sp>
      <p:sp>
        <p:nvSpPr>
          <p:cNvPr id="100196" name="C6Box"/>
          <p:cNvSpPr txBox="1"/>
          <p:nvPr/>
        </p:nvSpPr>
        <p:spPr>
          <a:xfrm xmlns:a="http://schemas.openxmlformats.org/drawingml/2006/main">
            <a:off x="8100000" y="2340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C2D12"/>
                </a:solidFill>
              </a:rPr>
              <a:t>Chart 6</a:t>
            </a:r>
          </a:p>
          <a:p xmlns:a="http://schemas.openxmlformats.org/drawingml/2006/main">
            <a:r>
              <a:rPr lang="en-US" sz="1300" b="0">
                <a:solidFill>
                  <a:srgbClr val="7C2D12"/>
                </a:solidFill>
              </a:rPr>
              <a:t>Customer Type Split</a:t>
            </a:r>
          </a:p>
          <a:p xmlns:a="http://schemas.openxmlformats.org/drawingml/2006/main">
            <a:r>
              <a:rPr lang="en-US" sz="1300" b="0">
                <a:solidFill>
                  <a:srgbClr val="7C2D12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7C2D12"/>
                </a:solidFill>
              </a:rPr>
              <a:t>Pie chart — Regular 47%, Frequent 44%, New 9%</a:t>
            </a:r>
          </a:p>
        </p:txBody>
      </p:sp>
      <p:sp>
        <p:nvSpPr>
          <p:cNvPr id="100197" name="C7Box"/>
          <p:cNvSpPr txBox="1"/>
          <p:nvPr/>
        </p:nvSpPr>
        <p:spPr>
          <a:xfrm xmlns:a="http://schemas.openxmlformats.org/drawingml/2006/main">
            <a:off x="540000" y="3672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3A5F"/>
                </a:solidFill>
              </a:rPr>
              <a:t>Chart 7</a:t>
            </a:r>
          </a:p>
          <a:p xmlns:a="http://schemas.openxmlformats.org/drawingml/2006/main">
            <a:r>
              <a:rPr lang="en-US" sz="1300" b="0">
                <a:solidFill>
                  <a:srgbClr val="1E3A5F"/>
                </a:solidFill>
              </a:rPr>
              <a:t>Income vs Online Ordering</a:t>
            </a:r>
          </a:p>
          <a:p xmlns:a="http://schemas.openxmlformats.org/drawingml/2006/main">
            <a:r>
              <a:rPr lang="en-US" sz="1300" b="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E3A5F"/>
                </a:solidFill>
              </a:rPr>
              <a:t>Bar chart — Below Rs.10k segment orders at 100%</a:t>
            </a:r>
          </a:p>
        </p:txBody>
      </p:sp>
      <p:sp>
        <p:nvSpPr>
          <p:cNvPr id="100198" name="C8Box"/>
          <p:cNvSpPr txBox="1"/>
          <p:nvPr/>
        </p:nvSpPr>
        <p:spPr>
          <a:xfrm xmlns:a="http://schemas.openxmlformats.org/drawingml/2006/main">
            <a:off x="4320000" y="3672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4532D"/>
                </a:solidFill>
              </a:rPr>
              <a:t>Chart 8</a:t>
            </a:r>
          </a:p>
          <a:p xmlns:a="http://schemas.openxmlformats.org/drawingml/2006/main">
            <a:r>
              <a:rPr lang="en-US" sz="1300" b="0">
                <a:solidFill>
                  <a:srgbClr val="14532D"/>
                </a:solidFill>
              </a:rPr>
              <a:t>Family Size Trend</a:t>
            </a:r>
          </a:p>
          <a:p xmlns:a="http://schemas.openxmlformats.org/drawingml/2006/main">
            <a:r>
              <a:rPr lang="en-US" sz="1300" b="0">
                <a:solidFill>
                  <a:srgbClr val="14532D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4532D"/>
                </a:solidFill>
              </a:rPr>
              <a:t>Line chart — Ordering rate stable across family sizes</a:t>
            </a:r>
          </a:p>
        </p:txBody>
      </p:sp>
      <p:sp>
        <p:nvSpPr>
          <p:cNvPr id="100199" name="C9Box"/>
          <p:cNvSpPr txBox="1"/>
          <p:nvPr/>
        </p:nvSpPr>
        <p:spPr>
          <a:xfrm xmlns:a="http://schemas.openxmlformats.org/drawingml/2006/main">
            <a:off x="8100000" y="3672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30A3"/>
                </a:solidFill>
              </a:rPr>
              <a:t>Chart 9</a:t>
            </a:r>
          </a:p>
          <a:p xmlns:a="http://schemas.openxmlformats.org/drawingml/2006/main">
            <a:r>
              <a:rPr lang="en-US" sz="1300" b="0">
                <a:solidFill>
                  <a:srgbClr val="3730A3"/>
                </a:solidFill>
              </a:rPr>
              <a:t>Correlation Heatmap</a:t>
            </a:r>
          </a:p>
          <a:p xmlns:a="http://schemas.openxmlformats.org/drawingml/2006/main">
            <a:r>
              <a:rPr lang="en-US" sz="1300" b="0">
                <a:solidFill>
                  <a:srgbClr val="3730A3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3730A3"/>
                </a:solidFill>
              </a:rPr>
              <a:t>Seaborn heatmap — Age &amp; Income_Numeric moderately correlated</a:t>
            </a:r>
          </a:p>
        </p:txBody>
      </p:sp>
      <p:sp>
        <p:nvSpPr>
          <p:cNvPr id="100200" name="BonusBox"/>
          <p:cNvSpPr txBox="1"/>
          <p:nvPr/>
        </p:nvSpPr>
        <p:spPr>
          <a:xfrm xmlns:a="http://schemas.openxmlformats.org/drawingml/2006/main">
            <a:off x="540000" y="4968000"/>
            <a:ext cx="108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3A5F"/>
                </a:solidFill>
              </a:rPr>
              <a:t>Bonus — Education Bar Chart: Post Graduate is the dominant qualification (~65% of dataset)</a:t>
            </a:r>
          </a:p>
        </p:txBody>
      </p:sp>
      <p:sp>
        <p:nvSpPr>
          <p:cNvPr id="100201" name="Foote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 b="0">
                <a:solidFill>
                  <a:srgbClr val="94A3B8"/>
                </a:solidFill>
              </a:rPr>
              <a:t>Online Food Delivery — Data Analytics Project Report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202" name="HeaderBar"/>
          <p:cNvSpPr txBox="1"/>
          <p:nvPr/>
        </p:nvSpPr>
        <p:spPr>
          <a:xfrm xmlns:a="http://schemas.openxmlformats.org/drawingml/2006/main">
            <a:off x="0" y="0"/>
            <a:ext cx="121932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3" name="SlideTitle"/>
          <p:cNvSpPr txBox="1"/>
          <p:nvPr/>
        </p:nvSpPr>
        <p:spPr>
          <a:xfrm xmlns:a="http://schemas.openxmlformats.org/drawingml/2006/main">
            <a:off x="360000" y="72000"/>
            <a:ext cx="90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08  Business Decisions &amp; Recommendations</a:t>
            </a:r>
          </a:p>
        </p:txBody>
      </p:sp>
      <p:sp>
        <p:nvSpPr>
          <p:cNvPr id="100204" name="Slide#"/>
          <p:cNvSpPr txBox="1"/>
          <p:nvPr/>
        </p:nvSpPr>
        <p:spPr>
          <a:xfrm xmlns:a="http://schemas.openxmlformats.org/drawingml/2006/main">
            <a:off x="10800000" y="108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F97316"/>
                </a:solidFill>
              </a:rPr>
              <a:t>10</a:t>
            </a:r>
          </a:p>
        </p:txBody>
      </p:sp>
      <p:sp>
        <p:nvSpPr>
          <p:cNvPr id="100205" name="D1"/>
          <p:cNvSpPr txBox="1"/>
          <p:nvPr/>
        </p:nvSpPr>
        <p:spPr>
          <a:xfrm xmlns:a="http://schemas.openxmlformats.org/drawingml/2006/main">
            <a:off x="540000" y="720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065F46"/>
                </a:solidFill>
              </a:rPr>
              <a:t>1. Customer Engagement</a:t>
            </a:r>
          </a:p>
          <a:p xmlns:a="http://schemas.openxmlformats.org/drawingml/2006/main">
            <a:r>
              <a:rPr lang="en-US" sz="1200" b="0">
                <a:solidFill>
                  <a:srgbClr val="065F46"/>
                </a:solidFill>
              </a:rPr>
              <a:t>Online ordering rate ~96%. Invest in smooth mobile UX and loyalty rewards to convert remaining offline customers.</a:t>
            </a:r>
          </a:p>
          <a:p xmlns:a="http://schemas.openxmlformats.org/drawingml/2006/main">
            <a:r>
              <a:rPr lang="en-US" sz="1200" b="0">
                <a:solidFill>
                  <a:srgbClr val="065F46"/>
                </a:solidFill>
              </a:rPr>
              <a:t>Impact: +10-15% orders</a:t>
            </a:r>
          </a:p>
        </p:txBody>
      </p:sp>
      <p:sp>
        <p:nvSpPr>
          <p:cNvPr id="100206" name="D2"/>
          <p:cNvSpPr txBox="1"/>
          <p:nvPr/>
        </p:nvSpPr>
        <p:spPr>
          <a:xfrm xmlns:a="http://schemas.openxmlformats.org/drawingml/2006/main">
            <a:off x="6120000" y="720000"/>
            <a:ext cx="54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1E40AF"/>
                </a:solidFill>
              </a:rPr>
              <a:t>2. Gender Marketing</a:t>
            </a:r>
          </a:p>
          <a:p xmlns:a="http://schemas.openxmlformats.org/drawingml/2006/main">
            <a:r>
              <a:rPr lang="en-US" sz="1200" b="0">
                <a:solidFill>
                  <a:srgbClr val="1E40AF"/>
                </a:solidFill>
              </a:rPr>
              <a:t>Male (96.4%) and Female (95.9%) order at similar rates. Run targeted campaigns: sports meals for males, health menus for females.</a:t>
            </a:r>
          </a:p>
          <a:p xmlns:a="http://schemas.openxmlformats.org/drawingml/2006/main">
            <a:r>
              <a:rPr lang="en-US" sz="1200" b="0">
                <a:solidFill>
                  <a:srgbClr val="1E40AF"/>
                </a:solidFill>
              </a:rPr>
              <a:t>Impact: +8% engagement</a:t>
            </a:r>
          </a:p>
        </p:txBody>
      </p:sp>
      <p:sp>
        <p:nvSpPr>
          <p:cNvPr id="100207" name="D3"/>
          <p:cNvSpPr txBox="1"/>
          <p:nvPr/>
        </p:nvSpPr>
        <p:spPr>
          <a:xfrm xmlns:a="http://schemas.openxmlformats.org/drawingml/2006/main">
            <a:off x="540000" y="1980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92400E"/>
                </a:solidFill>
              </a:rPr>
              <a:t>3. Occupation Promotions</a:t>
            </a:r>
          </a:p>
          <a:p xmlns:a="http://schemas.openxmlformats.org/drawingml/2006/main">
            <a:r>
              <a:rPr lang="en-US" sz="1200" b="0">
                <a:solidFill>
                  <a:srgbClr val="92400E"/>
                </a:solidFill>
              </a:rPr>
              <a:t>Students show 97.5% online ordering. Offer student discounts, combo meals, and fast delivery. Partner with colleges for bulk orders.</a:t>
            </a:r>
          </a:p>
          <a:p xmlns:a="http://schemas.openxmlformats.org/drawingml/2006/main">
            <a:r>
              <a:rPr lang="en-US" sz="1200" b="0">
                <a:solidFill>
                  <a:srgbClr val="92400E"/>
                </a:solidFill>
              </a:rPr>
              <a:t>Impact: +20% from student segment</a:t>
            </a:r>
          </a:p>
        </p:txBody>
      </p:sp>
      <p:sp>
        <p:nvSpPr>
          <p:cNvPr id="100208" name="D4"/>
          <p:cNvSpPr txBox="1"/>
          <p:nvPr/>
        </p:nvSpPr>
        <p:spPr>
          <a:xfrm xmlns:a="http://schemas.openxmlformats.org/drawingml/2006/main">
            <a:off x="6120000" y="1980000"/>
            <a:ext cx="54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581C87"/>
                </a:solidFill>
              </a:rPr>
              <a:t>4. Age Group Targeting</a:t>
            </a:r>
          </a:p>
          <a:p xmlns:a="http://schemas.openxmlformats.org/drawingml/2006/main">
            <a:r>
              <a:rPr lang="en-US" sz="1200" b="0">
                <a:solidFill>
                  <a:srgbClr val="581C87"/>
                </a:solidFill>
              </a:rPr>
              <a:t>Age 18-22 drives the highest total Sales Score. Focus social media ad spend on Instagram targeting this cohort with flash deals.</a:t>
            </a:r>
          </a:p>
          <a:p xmlns:a="http://schemas.openxmlformats.org/drawingml/2006/main">
            <a:r>
              <a:rPr lang="en-US" sz="1200" b="0">
                <a:solidFill>
                  <a:srgbClr val="581C87"/>
                </a:solidFill>
              </a:rPr>
              <a:t>Impact: +15% brand recall</a:t>
            </a:r>
          </a:p>
        </p:txBody>
      </p:sp>
      <p:sp>
        <p:nvSpPr>
          <p:cNvPr id="100209" name="D5"/>
          <p:cNvSpPr txBox="1"/>
          <p:nvPr/>
        </p:nvSpPr>
        <p:spPr>
          <a:xfrm xmlns:a="http://schemas.openxmlformats.org/drawingml/2006/main">
            <a:off x="540000" y="3240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14532D"/>
                </a:solidFill>
              </a:rPr>
              <a:t>5. Feedback and Service Quality</a:t>
            </a:r>
          </a:p>
          <a:p xmlns:a="http://schemas.openxmlformats.org/drawingml/2006/main">
            <a:r>
              <a:rPr lang="en-US" sz="1200" b="0">
                <a:solidFill>
                  <a:srgbClr val="14532D"/>
                </a:solidFill>
              </a:rPr>
              <a:t>Positive feedback ~85%. Introduce a referral programme. Address 15% negative feedback through delivery time and packaging improvements.</a:t>
            </a:r>
          </a:p>
          <a:p xmlns:a="http://schemas.openxmlformats.org/drawingml/2006/main">
            <a:r>
              <a:rPr lang="en-US" sz="1200" b="0">
                <a:solidFill>
                  <a:srgbClr val="14532D"/>
                </a:solidFill>
              </a:rPr>
              <a:t>Impact: +5% satisfaction score</a:t>
            </a:r>
          </a:p>
        </p:txBody>
      </p:sp>
      <p:sp>
        <p:nvSpPr>
          <p:cNvPr id="100210" name="D6"/>
          <p:cNvSpPr txBox="1"/>
          <p:nvPr/>
        </p:nvSpPr>
        <p:spPr>
          <a:xfrm xmlns:a="http://schemas.openxmlformats.org/drawingml/2006/main">
            <a:off x="6120000" y="3240000"/>
            <a:ext cx="54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164E63"/>
                </a:solidFill>
              </a:rPr>
              <a:t>6. Customer Retention</a:t>
            </a:r>
          </a:p>
          <a:p xmlns:a="http://schemas.openxmlformats.org/drawingml/2006/main">
            <a:r>
              <a:rPr lang="en-US" sz="1200" b="0">
                <a:solidFill>
                  <a:srgbClr val="164E63"/>
                </a:solidFill>
              </a:rPr>
              <a:t>Regular (47%) and Frequent (44%) dominate. Build a tiered loyalty programme New to Regular to Frequent with escalating rewards.</a:t>
            </a:r>
          </a:p>
          <a:p xmlns:a="http://schemas.openxmlformats.org/drawingml/2006/main">
            <a:r>
              <a:rPr lang="en-US" sz="1200" b="0">
                <a:solidFill>
                  <a:srgbClr val="164E63"/>
                </a:solidFill>
              </a:rPr>
              <a:t>Impact: +12% customer lifetime value</a:t>
            </a:r>
          </a:p>
        </p:txBody>
      </p:sp>
      <p:sp>
        <p:nvSpPr>
          <p:cNvPr id="100211" name="D7"/>
          <p:cNvSpPr txBox="1"/>
          <p:nvPr/>
        </p:nvSpPr>
        <p:spPr>
          <a:xfrm xmlns:a="http://schemas.openxmlformats.org/drawingml/2006/main">
            <a:off x="540000" y="4500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7C2D12"/>
                </a:solidFill>
              </a:rPr>
              <a:t>7. Pricing and Income Segmentation</a:t>
            </a:r>
          </a:p>
          <a:p xmlns:a="http://schemas.openxmlformats.org/drawingml/2006/main">
            <a:r>
              <a:rPr lang="en-US" sz="1200" b="0">
                <a:solidFill>
                  <a:srgbClr val="7C2D12"/>
                </a:solidFill>
              </a:rPr>
              <a:t>Large share have No Income or Below Rs.10k. Maintain Rs.50-150 meal tier. Add premium options for Rs.50k+ earners.</a:t>
            </a:r>
          </a:p>
          <a:p xmlns:a="http://schemas.openxmlformats.org/drawingml/2006/main">
            <a:r>
              <a:rPr lang="en-US" sz="1200" b="0">
                <a:solidFill>
                  <a:srgbClr val="7C2D12"/>
                </a:solidFill>
              </a:rPr>
              <a:t>Impact: +12% revenue per order</a:t>
            </a:r>
          </a:p>
        </p:txBody>
      </p:sp>
      <p:sp>
        <p:nvSpPr>
          <p:cNvPr id="100212" name="D8"/>
          <p:cNvSpPr txBox="1"/>
          <p:nvPr/>
        </p:nvSpPr>
        <p:spPr>
          <a:xfrm xmlns:a="http://schemas.openxmlformats.org/drawingml/2006/main">
            <a:off x="6120000" y="4500000"/>
            <a:ext cx="54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730A3"/>
                </a:solidFill>
              </a:rPr>
              <a:t>8. Family Group Orders</a:t>
            </a:r>
          </a:p>
          <a:p xmlns:a="http://schemas.openxmlformats.org/drawingml/2006/main">
            <a:r>
              <a:rPr lang="en-US" sz="1200" b="0">
                <a:solidFill>
                  <a:srgbClr val="3730A3"/>
                </a:solidFill>
              </a:rPr>
              <a:t>Large families (4-6 members) show high ordering activity. Create Family Feast bundles and group discounts for households of 5+.</a:t>
            </a:r>
          </a:p>
          <a:p xmlns:a="http://schemas.openxmlformats.org/drawingml/2006/main">
            <a:r>
              <a:rPr lang="en-US" sz="1200" b="0">
                <a:solidFill>
                  <a:srgbClr val="3730A3"/>
                </a:solidFill>
              </a:rPr>
              <a:t>Impact: +18% avg order value</a:t>
            </a:r>
          </a:p>
        </p:txBody>
      </p:sp>
      <p:sp>
        <p:nvSpPr>
          <p:cNvPr id="100213" name="Foote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 b="0">
                <a:solidFill>
                  <a:srgbClr val="94A3B8"/>
                </a:solidFill>
              </a:rPr>
              <a:t>Online Food Delivery - Data Analytics Project Report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214" name="HeaderBar"/>
          <p:cNvSpPr txBox="1"/>
          <p:nvPr/>
        </p:nvSpPr>
        <p:spPr>
          <a:xfrm xmlns:a="http://schemas.openxmlformats.org/drawingml/2006/main">
            <a:off x="0" y="0"/>
            <a:ext cx="121932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5" name="SlideTitle"/>
          <p:cNvSpPr txBox="1"/>
          <p:nvPr/>
        </p:nvSpPr>
        <p:spPr>
          <a:xfrm xmlns:a="http://schemas.openxmlformats.org/drawingml/2006/main">
            <a:off x="360000" y="72000"/>
            <a:ext cx="90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09  Technology Stack</a:t>
            </a:r>
          </a:p>
        </p:txBody>
      </p:sp>
      <p:sp>
        <p:nvSpPr>
          <p:cNvPr id="100216" name="Slide#"/>
          <p:cNvSpPr txBox="1"/>
          <p:nvPr/>
        </p:nvSpPr>
        <p:spPr>
          <a:xfrm xmlns:a="http://schemas.openxmlformats.org/drawingml/2006/main">
            <a:off x="10800000" y="108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F97316"/>
                </a:solidFill>
              </a:rPr>
              <a:t>11</a:t>
            </a:r>
          </a:p>
        </p:txBody>
      </p:sp>
      <p:sp>
        <p:nvSpPr>
          <p:cNvPr id="100217" name="T1"/>
          <p:cNvSpPr txBox="1"/>
          <p:nvPr/>
        </p:nvSpPr>
        <p:spPr>
          <a:xfrm xmlns:a="http://schemas.openxmlformats.org/drawingml/2006/main">
            <a:off x="540000" y="828000"/>
            <a:ext cx="34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1E3A5F"/>
                </a:solidFill>
              </a:rPr>
              <a:t>Python 3.10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1E3A5F"/>
                </a:solidFill>
              </a:rPr>
              <a:t>Core programming language for all data processing logic, feature engineering, and chart generation</a:t>
            </a:r>
          </a:p>
        </p:txBody>
      </p:sp>
      <p:sp>
        <p:nvSpPr>
          <p:cNvPr id="100218" name="T2"/>
          <p:cNvSpPr txBox="1"/>
          <p:nvPr/>
        </p:nvSpPr>
        <p:spPr>
          <a:xfrm xmlns:a="http://schemas.openxmlformats.org/drawingml/2006/main">
            <a:off x="4320000" y="828000"/>
            <a:ext cx="34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065F46"/>
                </a:solidFill>
              </a:rPr>
              <a:t>Pandas 2.x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065F46"/>
                </a:solidFill>
              </a:rPr>
              <a:t>DataFrame operations: read_csv, groupby, agg, merge, value_counts, describe. Primary data manipulation engine</a:t>
            </a:r>
          </a:p>
        </p:txBody>
      </p:sp>
      <p:sp>
        <p:nvSpPr>
          <p:cNvPr id="100219" name="T3"/>
          <p:cNvSpPr txBox="1"/>
          <p:nvPr/>
        </p:nvSpPr>
        <p:spPr>
          <a:xfrm xmlns:a="http://schemas.openxmlformats.org/drawingml/2006/main">
            <a:off x="8100000" y="828000"/>
            <a:ext cx="34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92400E"/>
                </a:solidFill>
              </a:rPr>
              <a:t>NumPy 1.26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92400E"/>
                </a:solidFill>
              </a:rPr>
              <a:t>Correlation matrix computation and numerical array operations used in heatmap generation</a:t>
            </a:r>
          </a:p>
        </p:txBody>
      </p:sp>
      <p:sp>
        <p:nvSpPr>
          <p:cNvPr id="100220" name="T4"/>
          <p:cNvSpPr txBox="1"/>
          <p:nvPr/>
        </p:nvSpPr>
        <p:spPr>
          <a:xfrm xmlns:a="http://schemas.openxmlformats.org/drawingml/2006/main">
            <a:off x="540000" y="2592000"/>
            <a:ext cx="34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581C87"/>
                </a:solidFill>
              </a:rPr>
              <a:t>Matplotlib 3.8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581C87"/>
                </a:solidFill>
              </a:rPr>
              <a:t>All bar charts, pie charts, histograms, and line charts rendered using matplotlib.pyplot with custom styling</a:t>
            </a:r>
          </a:p>
        </p:txBody>
      </p:sp>
      <p:sp>
        <p:nvSpPr>
          <p:cNvPr id="100221" name="T5"/>
          <p:cNvSpPr txBox="1"/>
          <p:nvPr/>
        </p:nvSpPr>
        <p:spPr>
          <a:xfrm xmlns:a="http://schemas.openxmlformats.org/drawingml/2006/main">
            <a:off x="4320000" y="2592000"/>
            <a:ext cx="34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164E63"/>
                </a:solidFill>
              </a:rPr>
              <a:t>Seaborn 0.13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164E63"/>
                </a:solidFill>
              </a:rPr>
              <a:t>Correlation heatmap using sns.heatmap with Blues colormap and annotated correlation coefficients</a:t>
            </a:r>
          </a:p>
        </p:txBody>
      </p:sp>
      <p:sp>
        <p:nvSpPr>
          <p:cNvPr id="100222" name="T6"/>
          <p:cNvSpPr txBox="1"/>
          <p:nvPr/>
        </p:nvSpPr>
        <p:spPr>
          <a:xfrm xmlns:a="http://schemas.openxmlformats.org/drawingml/2006/main">
            <a:off x="8100000" y="2592000"/>
            <a:ext cx="34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7C2D12"/>
                </a:solidFill>
              </a:rPr>
              <a:t>Streamlit 1.64</a:t>
            </a:r>
          </a:p>
          <a:p xmlns:a="http://schemas.openxmlformats.org/drawingml/2006/main">
            <a:pPr algn="ctr"/>
            <a:r>
              <a:rPr lang="en-US" sz="1300" b="0">
                <a:solidFill>
                  <a:srgbClr val="7C2D12"/>
                </a:solidFill>
              </a:rPr>
              <a:t>Frontend web application: 6 tabbed views, sidebar filters, metric cards, data tables, and embedded matplotlib figures</a:t>
            </a:r>
          </a:p>
        </p:txBody>
      </p:sp>
      <p:sp>
        <p:nvSpPr>
          <p:cNvPr id="100223" name="ArchTitle"/>
          <p:cNvSpPr txBox="1"/>
          <p:nvPr/>
        </p:nvSpPr>
        <p:spPr>
          <a:xfrm xmlns:a="http://schemas.openxmlformats.org/drawingml/2006/main">
            <a:off x="540000" y="4320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Application Architecture</a:t>
            </a:r>
          </a:p>
        </p:txBody>
      </p:sp>
      <p:sp>
        <p:nvSpPr>
          <p:cNvPr id="100224" name="ArchFlow"/>
          <p:cNvSpPr txBox="1"/>
          <p:nvPr/>
        </p:nvSpPr>
        <p:spPr>
          <a:xfrm xmlns:a="http://schemas.openxmlformats.org/drawingml/2006/main">
            <a:off x="540000" y="4644000"/>
            <a:ext cx="108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1E3A5F"/>
                </a:solidFill>
              </a:rPr>
              <a:t>CSV File  --&gt;  load_data()  --&gt;  quality_report()  --&gt;  clean_data()  --&gt;  Sidebar Filters  --&gt;  6 Analysis Tabs  --&gt;  Streamlit UI (localhost:8501)</a:t>
            </a:r>
          </a:p>
        </p:txBody>
      </p:sp>
      <p:sp>
        <p:nvSpPr>
          <p:cNvPr id="100225" name="RunCmd"/>
          <p:cNvSpPr txBox="1"/>
          <p:nvPr/>
        </p:nvSpPr>
        <p:spPr>
          <a:xfrm xmlns:a="http://schemas.openxmlformats.org/drawingml/2006/main">
            <a:off x="540000" y="5400000"/>
            <a:ext cx="108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Run command:  streamlit run app.py</a:t>
            </a:r>
          </a:p>
        </p:txBody>
      </p:sp>
      <p:sp>
        <p:nvSpPr>
          <p:cNvPr id="100226" name="Foote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 b="0">
                <a:solidFill>
                  <a:srgbClr val="94A3B8"/>
                </a:solidFill>
              </a:rPr>
              <a:t>Online Food Delivery - Data Analytics Project Report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227" name="HeaderBar"/>
          <p:cNvSpPr txBox="1"/>
          <p:nvPr/>
        </p:nvSpPr>
        <p:spPr>
          <a:xfrm xmlns:a="http://schemas.openxmlformats.org/drawingml/2006/main">
            <a:off x="0" y="0"/>
            <a:ext cx="121932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8" name="SlideTitle"/>
          <p:cNvSpPr txBox="1"/>
          <p:nvPr/>
        </p:nvSpPr>
        <p:spPr>
          <a:xfrm xmlns:a="http://schemas.openxmlformats.org/drawingml/2006/main">
            <a:off x="360000" y="72000"/>
            <a:ext cx="90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10  Conclusion &amp; Next Steps</a:t>
            </a:r>
          </a:p>
        </p:txBody>
      </p:sp>
      <p:sp>
        <p:nvSpPr>
          <p:cNvPr id="100229" name="Slide#"/>
          <p:cNvSpPr txBox="1"/>
          <p:nvPr/>
        </p:nvSpPr>
        <p:spPr>
          <a:xfrm xmlns:a="http://schemas.openxmlformats.org/drawingml/2006/main">
            <a:off x="10800000" y="108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F97316"/>
                </a:solidFill>
              </a:rPr>
              <a:t>12</a:t>
            </a:r>
          </a:p>
        </p:txBody>
      </p:sp>
      <p:sp>
        <p:nvSpPr>
          <p:cNvPr id="100230" name="ConcTitle"/>
          <p:cNvSpPr txBox="1"/>
          <p:nvPr/>
        </p:nvSpPr>
        <p:spPr>
          <a:xfrm xmlns:a="http://schemas.openxmlformats.org/drawingml/2006/main">
            <a:off x="540000" y="720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3A5F"/>
                </a:solidFill>
              </a:rPr>
              <a:t>Key Conclusions</a:t>
            </a:r>
          </a:p>
        </p:txBody>
      </p:sp>
      <p:sp>
        <p:nvSpPr>
          <p:cNvPr id="100231" name="Conc1"/>
          <p:cNvSpPr txBox="1"/>
          <p:nvPr/>
        </p:nvSpPr>
        <p:spPr>
          <a:xfrm xmlns:a="http://schemas.openxmlformats.org/drawingml/2006/main">
            <a:off x="540000" y="1080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The dataset is clean with zero nulls and duplicates — ready for production-grade analysis.</a:t>
            </a:r>
          </a:p>
        </p:txBody>
      </p:sp>
      <p:sp>
        <p:nvSpPr>
          <p:cNvPr id="100232" name="Conc2"/>
          <p:cNvSpPr txBox="1"/>
          <p:nvPr/>
        </p:nvSpPr>
        <p:spPr>
          <a:xfrm xmlns:a="http://schemas.openxmlformats.org/drawingml/2006/main">
            <a:off x="540000" y="1368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96% of customers already order food online, showing a mature digital adoption rate in the surveyed population.</a:t>
            </a:r>
          </a:p>
        </p:txBody>
      </p:sp>
      <p:sp>
        <p:nvSpPr>
          <p:cNvPr id="100233" name="Conc3"/>
          <p:cNvSpPr txBox="1"/>
          <p:nvPr/>
        </p:nvSpPr>
        <p:spPr>
          <a:xfrm xmlns:a="http://schemas.openxmlformats.org/drawingml/2006/main">
            <a:off x="540000" y="1656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Students (71% of users) with no or low income are the dominant customer segment and most digitally active.</a:t>
            </a:r>
          </a:p>
        </p:txBody>
      </p:sp>
      <p:sp>
        <p:nvSpPr>
          <p:cNvPr id="100234" name="Conc4"/>
          <p:cNvSpPr txBox="1"/>
          <p:nvPr/>
        </p:nvSpPr>
        <p:spPr>
          <a:xfrm xmlns:a="http://schemas.openxmlformats.org/drawingml/2006/main">
            <a:off x="540000" y="1944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Positive feedback at 85% demonstrates strong service satisfaction — a solid foundation for referral and loyalty programmes.</a:t>
            </a:r>
          </a:p>
        </p:txBody>
      </p:sp>
      <p:sp>
        <p:nvSpPr>
          <p:cNvPr id="100235" name="Conc5"/>
          <p:cNvSpPr txBox="1"/>
          <p:nvPr/>
        </p:nvSpPr>
        <p:spPr>
          <a:xfrm xmlns:a="http://schemas.openxmlformats.org/drawingml/2006/main">
            <a:off x="540000" y="2232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74151"/>
                </a:solidFill>
              </a:rPr>
              <a:t>Males aged 23-30 generate the highest per-customer Sales Score, making them the high-value engagement target group.</a:t>
            </a:r>
          </a:p>
        </p:txBody>
      </p:sp>
      <p:sp>
        <p:nvSpPr>
          <p:cNvPr id="100236" name="NextTitle"/>
          <p:cNvSpPr txBox="1"/>
          <p:nvPr/>
        </p:nvSpPr>
        <p:spPr>
          <a:xfrm xmlns:a="http://schemas.openxmlformats.org/drawingml/2006/main">
            <a:off x="540000" y="2700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3A5F"/>
                </a:solidFill>
              </a:rPr>
              <a:t>Recommended Next Steps</a:t>
            </a:r>
          </a:p>
        </p:txBody>
      </p:sp>
      <p:sp>
        <p:nvSpPr>
          <p:cNvPr id="100237" name="N1"/>
          <p:cNvSpPr txBox="1"/>
          <p:nvPr/>
        </p:nvSpPr>
        <p:spPr>
          <a:xfrm xmlns:a="http://schemas.openxmlformats.org/drawingml/2006/main">
            <a:off x="540000" y="3060000"/>
            <a:ext cx="342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40AF"/>
                </a:solidFill>
              </a:rPr>
              <a:t>Machine Learning</a:t>
            </a:r>
          </a:p>
          <a:p xmlns:a="http://schemas.openxmlformats.org/drawingml/2006/main">
            <a:r>
              <a:rPr lang="en-US" sz="1300" b="0">
                <a:solidFill>
                  <a:srgbClr val="1E40AF"/>
                </a:solidFill>
              </a:rPr>
              <a:t>Build a logistic regression or random forest classifier to predict Output (Yes/No ordering) from customer demographics</a:t>
            </a:r>
          </a:p>
        </p:txBody>
      </p:sp>
      <p:sp>
        <p:nvSpPr>
          <p:cNvPr id="100238" name="N2"/>
          <p:cNvSpPr txBox="1"/>
          <p:nvPr/>
        </p:nvSpPr>
        <p:spPr>
          <a:xfrm xmlns:a="http://schemas.openxmlformats.org/drawingml/2006/main">
            <a:off x="4320000" y="3060000"/>
            <a:ext cx="342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65F46"/>
                </a:solidFill>
              </a:rPr>
              <a:t>Sentiment Analysis</a:t>
            </a:r>
          </a:p>
          <a:p xmlns:a="http://schemas.openxmlformats.org/drawingml/2006/main">
            <a:r>
              <a:rPr lang="en-US" sz="1300" b="0">
                <a:solidFill>
                  <a:srgbClr val="065F46"/>
                </a:solidFill>
              </a:rPr>
              <a:t>Apply NLP models to open-ended feedback text (if available) for deeper qualitative insight beyond Positive/Negative labels</a:t>
            </a:r>
          </a:p>
        </p:txBody>
      </p:sp>
      <p:sp>
        <p:nvSpPr>
          <p:cNvPr id="100239" name="N3"/>
          <p:cNvSpPr txBox="1"/>
          <p:nvPr/>
        </p:nvSpPr>
        <p:spPr>
          <a:xfrm xmlns:a="http://schemas.openxmlformats.org/drawingml/2006/main">
            <a:off x="8100000" y="3060000"/>
            <a:ext cx="342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92400E"/>
                </a:solidFill>
              </a:rPr>
              <a:t>Geospatial Analysis</a:t>
            </a:r>
          </a:p>
          <a:p xmlns:a="http://schemas.openxmlformats.org/drawingml/2006/main">
            <a:r>
              <a:rPr lang="en-US" sz="1300" b="0">
                <a:solidFill>
                  <a:srgbClr val="92400E"/>
                </a:solidFill>
              </a:rPr>
              <a:t>Use latitude/longitude and pin code data to map delivery hotspots and identify underserved zones for expansion</a:t>
            </a:r>
          </a:p>
        </p:txBody>
      </p:sp>
      <p:sp>
        <p:nvSpPr>
          <p:cNvPr id="100240" name="N4"/>
          <p:cNvSpPr txBox="1"/>
          <p:nvPr/>
        </p:nvSpPr>
        <p:spPr>
          <a:xfrm xmlns:a="http://schemas.openxmlformats.org/drawingml/2006/main">
            <a:off x="540000" y="4500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581C87"/>
                </a:solidFill>
              </a:rPr>
              <a:t>Time-Series Integration</a:t>
            </a:r>
          </a:p>
          <a:p xmlns:a="http://schemas.openxmlformats.org/drawingml/2006/main">
            <a:r>
              <a:rPr lang="en-US" sz="1300" b="0">
                <a:solidFill>
                  <a:srgbClr val="581C87"/>
                </a:solidFill>
              </a:rPr>
              <a:t>Collect order timestamps to identify peak hours, weekly patterns, and seasonal demand spikes for dynamic pricing</a:t>
            </a:r>
          </a:p>
        </p:txBody>
      </p:sp>
      <p:sp>
        <p:nvSpPr>
          <p:cNvPr id="100241" name="N5"/>
          <p:cNvSpPr txBox="1"/>
          <p:nvPr/>
        </p:nvSpPr>
        <p:spPr>
          <a:xfrm xmlns:a="http://schemas.openxmlformats.org/drawingml/2006/main">
            <a:off x="4320000" y="4500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64E63"/>
                </a:solidFill>
              </a:rPr>
              <a:t>A/B Testing Framework</a:t>
            </a:r>
          </a:p>
          <a:p xmlns:a="http://schemas.openxmlformats.org/drawingml/2006/main">
            <a:r>
              <a:rPr lang="en-US" sz="1300" b="0">
                <a:solidFill>
                  <a:srgbClr val="164E63"/>
                </a:solidFill>
              </a:rPr>
              <a:t>Design experiments to test the 8 business decisions (e.g., student discount campaigns) and measure actual ROI</a:t>
            </a:r>
          </a:p>
        </p:txBody>
      </p:sp>
      <p:sp>
        <p:nvSpPr>
          <p:cNvPr id="100242" name="N6"/>
          <p:cNvSpPr txBox="1"/>
          <p:nvPr/>
        </p:nvSpPr>
        <p:spPr>
          <a:xfrm xmlns:a="http://schemas.openxmlformats.org/drawingml/2006/main">
            <a:off x="8100000" y="4500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C2D12"/>
                </a:solidFill>
              </a:rPr>
              <a:t>Dashboard Deployment</a:t>
            </a:r>
          </a:p>
          <a:p xmlns:a="http://schemas.openxmlformats.org/drawingml/2006/main">
            <a:r>
              <a:rPr lang="en-US" sz="1300" b="0">
                <a:solidFill>
                  <a:srgbClr val="7C2D12"/>
                </a:solidFill>
              </a:rPr>
              <a:t>Deploy the Streamlit app to Streamlit Cloud or AWS EC2 for live access by business stakeholders</a:t>
            </a:r>
          </a:p>
        </p:txBody>
      </p:sp>
      <p:sp>
        <p:nvSpPr>
          <p:cNvPr id="100243" name="Foote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 b="0">
                <a:solidFill>
                  <a:srgbClr val="94A3B8"/>
                </a:solidFill>
              </a:rPr>
              <a:t>Online Food Delivery - Data Analytics Project Report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244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F97316"/>
              </a:solidFill>
            </a:endParaRPr>
          </a:p>
        </p:txBody>
      </p:sp>
      <p:sp>
        <p:nvSpPr>
          <p:cNvPr id="100245" name="EndTitle"/>
          <p:cNvSpPr txBox="1"/>
          <p:nvPr/>
        </p:nvSpPr>
        <p:spPr>
          <a:xfrm xmlns:a="http://schemas.openxmlformats.org/drawingml/2006/main">
            <a:off x="720000" y="126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00246" name="EndSub"/>
          <p:cNvSpPr txBox="1"/>
          <p:nvPr/>
        </p:nvSpPr>
        <p:spPr>
          <a:xfrm xmlns:a="http://schemas.openxmlformats.org/drawingml/2006/main">
            <a:off x="720000" y="2700000"/>
            <a:ext cx="104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0">
                <a:solidFill>
                  <a:srgbClr val="93C5FD"/>
                </a:solidFill>
              </a:rPr>
              <a:t>Online Food Delivery — Data Analytics Project</a:t>
            </a:r>
          </a:p>
        </p:txBody>
      </p:sp>
      <p:sp>
        <p:nvSpPr>
          <p:cNvPr id="100247" name="Divider"/>
          <p:cNvSpPr txBox="1"/>
          <p:nvPr/>
        </p:nvSpPr>
        <p:spPr>
          <a:xfrm xmlns:a="http://schemas.openxmlformats.org/drawingml/2006/main">
            <a:off x="3600000" y="3420000"/>
            <a:ext cx="504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F97316"/>
              </a:solidFill>
            </a:endParaRPr>
          </a:p>
        </p:txBody>
      </p:sp>
      <p:sp>
        <p:nvSpPr>
          <p:cNvPr id="100248" name="Summary"/>
          <p:cNvSpPr txBox="1"/>
          <p:nvPr/>
        </p:nvSpPr>
        <p:spPr>
          <a:xfrm xmlns:a="http://schemas.openxmlformats.org/drawingml/2006/main">
            <a:off x="720000" y="3672000"/>
            <a:ext cx="104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0">
                <a:solidFill>
                  <a:srgbClr val="BDD7EE"/>
                </a:solidFill>
              </a:rPr>
              <a:t>388 Records   |   13 Features   |   9 Charts   |   8 Business Decisions</a:t>
            </a:r>
          </a:p>
        </p:txBody>
      </p:sp>
      <p:sp>
        <p:nvSpPr>
          <p:cNvPr id="100249" name="Stack"/>
          <p:cNvSpPr txBox="1"/>
          <p:nvPr/>
        </p:nvSpPr>
        <p:spPr>
          <a:xfrm xmlns:a="http://schemas.openxmlformats.org/drawingml/2006/main">
            <a:off x="720000" y="4248000"/>
            <a:ext cx="104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94A3B8"/>
                </a:solidFill>
              </a:rPr>
              <a:t>Python   |   Pandas   |   NumPy   |   Matplotlib   |   Seaborn   |   Streamlit</a:t>
            </a:r>
          </a:p>
        </p:txBody>
      </p:sp>
      <p:sp>
        <p:nvSpPr>
          <p:cNvPr id="100250" name="RunNote"/>
          <p:cNvSpPr txBox="1"/>
          <p:nvPr/>
        </p:nvSpPr>
        <p:spPr>
          <a:xfrm xmlns:a="http://schemas.openxmlformats.org/drawingml/2006/main">
            <a:off x="3240000" y="4860000"/>
            <a:ext cx="576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97316"/>
                </a:solidFill>
              </a:rPr>
              <a:t>streamlit run app.py</a:t>
            </a:r>
          </a:p>
        </p:txBody>
      </p:sp>
      <p:sp>
        <p:nvSpPr>
          <p:cNvPr id="100251" name="BottomBar"/>
          <p:cNvSpPr txBox="1"/>
          <p:nvPr/>
        </p:nvSpPr>
        <p:spPr>
          <a:xfrm xmlns:a="http://schemas.openxmlformats.org/drawingml/2006/main">
            <a:off x="0" y="6768000"/>
            <a:ext cx="12193200" cy="1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F97316"/>
              </a:solidFill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2026-09-25T07:17:15Z</dcterms:created>
  <cp:lastModifiedBy>OfficeCLI</cp:lastModifiedBy>
  <dcterms:modified xsi:type="dcterms:W3CDTF">2026-09-25T07:17:15Z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2026-09-25T07:37:52Z</vt:lpwstr>
  </op:property>
</op:Properties>
</file>